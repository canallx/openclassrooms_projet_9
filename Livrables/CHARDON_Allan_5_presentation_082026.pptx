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9b1e0385fe44170" /><Relationship Type="http://schemas.openxmlformats.org/officeDocument/2006/relationships/extended-properties" Target="/docProps/app.xml" Id="Rfe3d6b7e3bbc48f4" /><Relationship Type="http://schemas.openxmlformats.org/officeDocument/2006/relationships/officeDocument" Target="/ppt/presentation.xml" Id="R489bd173be214ce6" /></Relationships>
</file>

<file path=ppt/presentation.xml><?xml version="1.0" encoding="utf-8"?>
<p:presentation xmlns:p="http://schemas.openxmlformats.org/presentationml/2006/main">
  <p:sldMasterIdLst>
    <p:sldMasterId xmlns:r="http://schemas.openxmlformats.org/officeDocument/2006/relationships" id="2147483648" r:id="R52ea902741b549ed"/>
  </p:sldMasterIdLst>
  <p:notesMasterIdLst>
    <p:notesMasterId xmlns:r="http://schemas.openxmlformats.org/officeDocument/2006/relationships" r:id="Ra56611df51374eed"/>
  </p:notesMasterIdLst>
  <p:sldIdLst>
    <p:sldId xmlns:r="http://schemas.openxmlformats.org/officeDocument/2006/relationships" id="256" r:id="Rc54996f5043a4227"/>
    <p:sldId xmlns:r="http://schemas.openxmlformats.org/officeDocument/2006/relationships" id="257" r:id="Rbd90b29cc4f54176"/>
    <p:sldId xmlns:r="http://schemas.openxmlformats.org/officeDocument/2006/relationships" id="258" r:id="R0c17837eec5848a2"/>
    <p:sldId xmlns:r="http://schemas.openxmlformats.org/officeDocument/2006/relationships" id="259" r:id="R66e2a8e8769b47bb"/>
    <p:sldId xmlns:r="http://schemas.openxmlformats.org/officeDocument/2006/relationships" id="260" r:id="R64d5ee4d753d40db"/>
    <p:sldId xmlns:r="http://schemas.openxmlformats.org/officeDocument/2006/relationships" id="261" r:id="Re264e24a03c64a76"/>
    <p:sldId xmlns:r="http://schemas.openxmlformats.org/officeDocument/2006/relationships" id="262" r:id="Re2dde07ad8524ccf"/>
    <p:sldId xmlns:r="http://schemas.openxmlformats.org/officeDocument/2006/relationships" id="263" r:id="R58258c7bea7d4c89"/>
    <p:sldId xmlns:r="http://schemas.openxmlformats.org/officeDocument/2006/relationships" id="264" r:id="R5b71e83d6e3b4ae3"/>
    <p:sldId xmlns:r="http://schemas.openxmlformats.org/officeDocument/2006/relationships" id="265" r:id="Rf5dc16c43cf847e6"/>
    <p:sldId xmlns:r="http://schemas.openxmlformats.org/officeDocument/2006/relationships" id="266" r:id="R9f5dc1723fbf4737"/>
    <p:sldId xmlns:r="http://schemas.openxmlformats.org/officeDocument/2006/relationships" id="267" r:id="Rf74f86ffcd5d469f"/>
    <p:sldId xmlns:r="http://schemas.openxmlformats.org/officeDocument/2006/relationships" id="268" r:id="Rbfffd8b7c9b24da4"/>
    <p:sldId xmlns:r="http://schemas.openxmlformats.org/officeDocument/2006/relationships" id="269" r:id="Rd5a59aa84eaf4238"/>
    <p:sldId xmlns:r="http://schemas.openxmlformats.org/officeDocument/2006/relationships" id="270" r:id="R05c8dc67cd0749f0"/>
    <p:sldId xmlns:r="http://schemas.openxmlformats.org/officeDocument/2006/relationships" id="271" r:id="Rcf180387f9e04aff"/>
    <p:sldId xmlns:r="http://schemas.openxmlformats.org/officeDocument/2006/relationships" id="272" r:id="R23053132b5344b1c"/>
    <p:sldId xmlns:r="http://schemas.openxmlformats.org/officeDocument/2006/relationships" id="273" r:id="Rc0d1071cb25f463c"/>
    <p:sldId xmlns:r="http://schemas.openxmlformats.org/officeDocument/2006/relationships" id="274" r:id="R8dc0ead7dcc943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fc9540f1b64a6c" /><Relationship Type="http://schemas.openxmlformats.org/officeDocument/2006/relationships/slideMaster" Target="/ppt/slideMasters/slideMaster1.xml" Id="R52ea902741b549ed" /><Relationship Type="http://schemas.openxmlformats.org/officeDocument/2006/relationships/notesMaster" Target="/ppt/notesMasters/notesMaster1.xml" Id="Ra56611df51374eed" /><Relationship Type="http://schemas.openxmlformats.org/officeDocument/2006/relationships/presProps" Target="/ppt/presProps.xml" Id="Re477e8744dad45ce" /><Relationship Type="http://schemas.openxmlformats.org/officeDocument/2006/relationships/tableStyles" Target="/ppt/tableStyles.xml" Id="Rffcf8a4cb3444ca5" /><Relationship Type="http://schemas.openxmlformats.org/officeDocument/2006/relationships/slide" Target="/ppt/slides/slide1.xml" Id="Rc54996f5043a4227" /><Relationship Type="http://schemas.openxmlformats.org/officeDocument/2006/relationships/slide" Target="/ppt/slides/slide2.xml" Id="Rbd90b29cc4f54176" /><Relationship Type="http://schemas.openxmlformats.org/officeDocument/2006/relationships/slide" Target="/ppt/slides/slide3.xml" Id="R0c17837eec5848a2" /><Relationship Type="http://schemas.openxmlformats.org/officeDocument/2006/relationships/slide" Target="/ppt/slides/slide4.xml" Id="R66e2a8e8769b47bb" /><Relationship Type="http://schemas.openxmlformats.org/officeDocument/2006/relationships/slide" Target="/ppt/slides/slide5.xml" Id="R64d5ee4d753d40db" /><Relationship Type="http://schemas.openxmlformats.org/officeDocument/2006/relationships/slide" Target="/ppt/slides/slide6.xml" Id="Re264e24a03c64a76" /><Relationship Type="http://schemas.openxmlformats.org/officeDocument/2006/relationships/slide" Target="/ppt/slides/slide7.xml" Id="Re2dde07ad8524ccf" /><Relationship Type="http://schemas.openxmlformats.org/officeDocument/2006/relationships/slide" Target="/ppt/slides/slide8.xml" Id="R58258c7bea7d4c89" /><Relationship Type="http://schemas.openxmlformats.org/officeDocument/2006/relationships/slide" Target="/ppt/slides/slide9.xml" Id="R5b71e83d6e3b4ae3" /><Relationship Type="http://schemas.openxmlformats.org/officeDocument/2006/relationships/slide" Target="/ppt/slides/slide10.xml" Id="Rf5dc16c43cf847e6" /><Relationship Type="http://schemas.openxmlformats.org/officeDocument/2006/relationships/slide" Target="/ppt/slides/slide11.xml" Id="R9f5dc1723fbf4737" /><Relationship Type="http://schemas.openxmlformats.org/officeDocument/2006/relationships/slide" Target="/ppt/slides/slide12.xml" Id="Rf74f86ffcd5d469f" /><Relationship Type="http://schemas.openxmlformats.org/officeDocument/2006/relationships/slide" Target="/ppt/slides/slide13.xml" Id="Rbfffd8b7c9b24da4" /><Relationship Type="http://schemas.openxmlformats.org/officeDocument/2006/relationships/slide" Target="/ppt/slides/slide14.xml" Id="Rd5a59aa84eaf4238" /><Relationship Type="http://schemas.openxmlformats.org/officeDocument/2006/relationships/slide" Target="/ppt/slides/slide15.xml" Id="R05c8dc67cd0749f0" /><Relationship Type="http://schemas.openxmlformats.org/officeDocument/2006/relationships/slide" Target="/ppt/slides/slide16.xml" Id="Rcf180387f9e04aff" /><Relationship Type="http://schemas.openxmlformats.org/officeDocument/2006/relationships/slide" Target="/ppt/slides/slide17.xml" Id="R23053132b5344b1c" /><Relationship Type="http://schemas.openxmlformats.org/officeDocument/2006/relationships/slide" Target="/ppt/slides/slide18.xml" Id="Rc0d1071cb25f463c" /><Relationship Type="http://schemas.openxmlformats.org/officeDocument/2006/relationships/slide" Target="/ppt/slides/slide19.xml" Id="R8dc0ead7dcc943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e4c1f44fea4c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38dd5731c14188" /><Relationship Type="http://schemas.openxmlformats.org/officeDocument/2006/relationships/notesMaster" Target="/ppt/notesMasters/notesMaster1.xml" Id="R14e24adbf6e848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855c7827ba45fc" /><Relationship Type="http://schemas.openxmlformats.org/officeDocument/2006/relationships/notesMaster" Target="/ppt/notesMasters/notesMaster1.xml" Id="R7001c166f6674d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4e60da68f44c5f" /><Relationship Type="http://schemas.openxmlformats.org/officeDocument/2006/relationships/notesMaster" Target="/ppt/notesMasters/notesMaster1.xml" Id="R9c15f74dca564d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1ee188d2c749a4" /><Relationship Type="http://schemas.openxmlformats.org/officeDocument/2006/relationships/notesMaster" Target="/ppt/notesMasters/notesMaster1.xml" Id="R83fda9aacf8744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2992d1546d403e" /><Relationship Type="http://schemas.openxmlformats.org/officeDocument/2006/relationships/notesMaster" Target="/ppt/notesMasters/notesMaster1.xml" Id="Reb4f4a3e77a244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7d9fae07b84089" /><Relationship Type="http://schemas.openxmlformats.org/officeDocument/2006/relationships/notesMaster" Target="/ppt/notesMasters/notesMaster1.xml" Id="R4b5e2666f91c48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87e5aee4fb477f" /><Relationship Type="http://schemas.openxmlformats.org/officeDocument/2006/relationships/notesMaster" Target="/ppt/notesMasters/notesMaster1.xml" Id="R001453a6ab2342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416b79136d45ad" /><Relationship Type="http://schemas.openxmlformats.org/officeDocument/2006/relationships/notesMaster" Target="/ppt/notesMasters/notesMaster1.xml" Id="R3946d50083194f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4c255c520f48cc" /><Relationship Type="http://schemas.openxmlformats.org/officeDocument/2006/relationships/notesMaster" Target="/ppt/notesMasters/notesMaster1.xml" Id="R40c32a2a698740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87f6527d954bb2" /><Relationship Type="http://schemas.openxmlformats.org/officeDocument/2006/relationships/notesMaster" Target="/ppt/notesMasters/notesMaster1.xml" Id="R0cc092619cdf4f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cc6ad0b8e9421b" /><Relationship Type="http://schemas.openxmlformats.org/officeDocument/2006/relationships/notesMaster" Target="/ppt/notesMasters/notesMaster1.xml" Id="R7ca755ff9d954e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6ffc887c5f42ea" /><Relationship Type="http://schemas.openxmlformats.org/officeDocument/2006/relationships/notesMaster" Target="/ppt/notesMasters/notesMaster1.xml" Id="R95b6281f07a84c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bb596c6e8a44c2" /><Relationship Type="http://schemas.openxmlformats.org/officeDocument/2006/relationships/notesMaster" Target="/ppt/notesMasters/notesMaster1.xml" Id="R2d15158a171b43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7d9d822009433b" /><Relationship Type="http://schemas.openxmlformats.org/officeDocument/2006/relationships/notesMaster" Target="/ppt/notesMasters/notesMaster1.xml" Id="R78b515b0090c45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6ae1ba40b74dba" /><Relationship Type="http://schemas.openxmlformats.org/officeDocument/2006/relationships/notesMaster" Target="/ppt/notesMasters/notesMaster1.xml" Id="R055c8d4312c24c9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1fdeb73c294972" /><Relationship Type="http://schemas.openxmlformats.org/officeDocument/2006/relationships/notesMaster" Target="/ppt/notesMasters/notesMaster1.xml" Id="R8bc090bff29a40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d2bfefcde7c4ae5" /><Relationship Type="http://schemas.openxmlformats.org/officeDocument/2006/relationships/notesMaster" Target="/ppt/notesMasters/notesMaster1.xml" Id="Rd8f8d25d502648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673fd46e1c441f0" /><Relationship Type="http://schemas.openxmlformats.org/officeDocument/2006/relationships/notesMaster" Target="/ppt/notesMasters/notesMaster1.xml" Id="R7bd5bf266ba849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ea732ef34b47f7" /><Relationship Type="http://schemas.openxmlformats.org/officeDocument/2006/relationships/notesMaster" Target="/ppt/notesMasters/notesMaster1.xml" Id="R6f8c9c2bbd984f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30 secondes.</a:t>
            </a:r>
          </a:p>
          <a:p xmlns:a="http://schemas.openxmlformats.org/drawingml/2006/main">
            <a:r>
              <a:t>Présenter la preuve de concept réalisée pour DataSpace. Baseline BiLSTM et méthode SetFit. Les résultats sont ceux du test corrigé. Source : Results/comparaison_modeles.csv, audit_donnees.json et predictions_test.csv du projet.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45 secondes.</a:t>
            </a:r>
          </a:p>
          <a:p xmlns:a="http://schemas.openxmlformats.org/drawingml/2006/main">
            <a:r>
              <a:t>Expliquer la contrainte professionnelle et annoncer le déroulé 5 minutes de plan, 10 minutes de méthode et résultats, 5 minutes de démonstration.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60 secondes.</a:t>
            </a:r>
          </a:p>
          <a:p xmlns:a="http://schemas.openxmlformats.org/drawingml/2006/main">
            <a:r>
              <a:t>La supervision distante utilise les émoticônes comme labels bruités. La neutralité ne fait pas partie de cette expérience. Le test est extrait du corpus de 1,6 million, il ne s’agit pas du test manuel de 498 tweets de la distribution originale. Source : https://cs.stanford.edu/people/alecmgo/papers/TwitterDistantSupervision09.pdf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90 secondes.</a:t>
            </a:r>
          </a:p>
          <a:p xmlns:a="http://schemas.openxmlformats.org/drawingml/2006/main">
            <a:r>
              <a:t>La référence scientifique est l’article SetFit de Tunstall et al., du 22 septembre 2022. Le blog officiel de Jo et al., du 26 septembre 2022, explique les deux phases et montre du code avec MPNet sur SentEval-CR. Le blog SetFitABSA du 6 décembre 2023 réutilise SetFit pour détecter les aspects puis leur sentiment. Ces sources sont rédigées par les auteurs de la méthode. Notre projet reste une classification globale sur Sentiment140. Le Quickstart actuel utilise SST-2, un autre dataset que le nôtre. Sources : https://arxiv.org/abs/2209.11055</a:t>
            </a:r>
          </a:p>
          <a:p xmlns:a="http://schemas.openxmlformats.org/drawingml/2006/main">
            <a:r>
              <a:t>https://huggingface.co/blog/setfit</a:t>
            </a:r>
          </a:p>
          <a:p xmlns:a="http://schemas.openxmlformats.org/drawingml/2006/main">
            <a:r>
              <a:t>https://huggingface.co/blog/setfit-absa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75 secondes.</a:t>
            </a:r>
          </a:p>
          <a:p xmlns:a="http://schemas.openxmlformats.org/drawingml/2006/main">
            <a:r>
              <a:t>Les partitions initiales sont conservées. Le test est filtré avant la nouvelle comparaison. Le modèle ne change pas. Le plan de travail contient les sources et la réutilisation de code. Source : Results/comparaison_modeles.csv, audit_donnees.json et predictions_test.csv du projet.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60 secondes.</a:t>
            </a:r>
          </a:p>
          <a:p xmlns:a="http://schemas.openxmlformats.org/drawingml/2006/main">
            <a:r>
              <a:t>835 lignes du test apparaissent dans le train brut, 96 dans la validation brute, avec recouvrements possibles. Exclusion également après nettoyage de chaque pipeline avec les données réellement utilisées et suppression des répétitions internes. Ce filtrage dépend des textes, pas des scores. Source : Results/comparaison_modeles.csv, audit_donnees.json et predictions_test.csv du projet.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55 secondes.</a:t>
            </a:r>
          </a:p>
          <a:p xmlns:a="http://schemas.openxmlformats.org/drawingml/2006/main">
            <a:r>
              <a:t>Décrire les embeddings GloVe, le contexte séquentiel, les deux directions du LSTM et la classification. La représentation concatène les états finaux. Les embeddings sont entraînables. Référence GloVe : https://nlp.stanford.edu/projects/glove/ ; code du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85 secondes.</a:t>
            </a:r>
          </a:p>
          <a:p xmlns:a="http://schemas.openxmlformats.org/drawingml/2006/main">
            <a:r>
              <a:t>Première étape : adapter les embeddings par paires. CosineSimilarityLoss rapproche la similarité cosinus de la cible 1 ou 0. Deuxième étape : régression logistique sur les embeddings adaptés. Les paires ne créent pas de nouvelles annotations indépendantes. Sources : https://arxiv.org/abs/2209.11055</a:t>
            </a:r>
          </a:p>
          <a:p xmlns:a="http://schemas.openxmlformats.org/drawingml/2006/main">
            <a:r>
              <a:t>https://huggingface.co/docs/setfit/v1.1.3/en/how_to/classification_heads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60 secondes.</a:t>
            </a:r>
          </a:p>
          <a:p xmlns:a="http://schemas.openxmlformats.org/drawingml/2006/main">
            <a:r>
              <a:t>Le F1 macro est la moyenne des F1 des deux sentiments. Le F1 combine précision et rappel. La précision compte les bonnes réponses parmi les prédictions d’une classe ; le rappel compte les exemples de cette classe retrouvés. Le train apprend les poids, la validation suit les choix et le test commun mesure le résultat final. Le BiLSTM retient son meilleur état sur validation avec arrêt anticipé ; SetFit utilise des réglages fixés par compromis de calcul. Aucune recherche exhaustive n’est présentée. Source :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40 secondes.</a:t>
            </a:r>
          </a:p>
          <a:p xmlns:a="http://schemas.openxmlformats.org/drawingml/2006/main">
            <a:r>
              <a:t>Le dashboard applique exactement clean_tweet_SETFIT. La fonction de hashtag retire simplement # et ne segmente pas réellement les mots composés. La suppression de ponctuation dans le BiLSTM peut perdre des signaux de sentiment. Source : SRC/preprocessing.py.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60 secondes.</a:t>
            </a:r>
          </a:p>
          <a:p xmlns:a="http://schemas.openxmlformats.org/drawingml/2006/main">
            <a:r>
              <a:t>Source : Results/comparaison_modeles.csv, audit_donnees.json et predictions_test.csv du projet.</a:t>
            </a:r>
          </a:p>
          <a:p xmlns:a="http://schemas.openxmlformats.org/drawingml/2006/main">
            <a:r>
              <a:t>Le graphique utilise une échelle de zéro à un pour garder visible l’amplitude réelle du gain. Le gain absolu est exprimé en points de pourcentage, pas en pourcentage relatif.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70 secondes.</a:t>
            </a:r>
          </a:p>
          <a:p xmlns:a="http://schemas.openxmlformats.org/drawingml/2006/main">
            <a:r>
              <a:t>Sur 100 tweets équilibrés, on retire un mot à la fois et calcule la variation de probabilité positive. La synthèse prend la moyenne des variations absolues, avec au moins trois occurrences par mot. Les coefficients de l’embedding ne sont pas directement des poids de mots. Ce classement dépend du petit échantillon et les probabilités ne sont pas calibrées. Source : Results/importance_mots.csv et explications_locales.csv.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50 secondes.</a:t>
            </a:r>
          </a:p>
          <a:p xmlns:a="http://schemas.openxmlformats.org/drawingml/2006/main">
            <a:r>
              <a:t>Lire une matrice : lignes label du dataset, colonnes prediction. Décrire les erreurs et les deux classes, sans les considérer comme un jugement humain irréfutable. Source : Results/comparaison_modeles.csv, audit_donnees.json et predictions_test.csv du projet.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50 secondes.</a:t>
            </a:r>
          </a:p>
          <a:p xmlns:a="http://schemas.openxmlformats.org/drawingml/2006/main">
            <a:r>
              <a:t>Le ratio concerne uniquement les exemples labellisés de l’adaptation. Le préentraînement est exclu. Les labels du corpus étant automatiques, ne pas traduire le ratio en heures d’annotation humaine. Les durées d’entraînement sont historiques et le matériel initial n’est pas tracé précisément. Source : Results/comparaison_modeles.csv, audit_donnees.json et predictions_test.csv du projet.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70 secondes.</a:t>
            </a:r>
          </a:p>
          <a:p xmlns:a="http://schemas.openxmlformats.org/drawingml/2006/main">
            <a:r>
              <a:t>On calcule P(positif pour le texte complet) moins P(positif après retrait du mot). Une variation négative signifie que la présence du mot soutient la classe négative dans cette phrase. Retirer down fait fortement augmenter la probabilité positive ; sa présence contribue donc au négatif. Les effets dépendent du contexte ; la suppression peut déformer la phrase. Ce n’est pas une causalité. Source : Results/explications_locales.csv.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60 secondes.</a:t>
            </a:r>
          </a:p>
          <a:p xmlns:a="http://schemas.openxmlformats.org/drawingml/2006/main">
            <a:r>
              <a:t>Le parcours répond à trois questions : quelles données, quel sentiment pour un message, quel modèle choisir ? Dans Analyse des données, filtrer et survoler les graphiques ; dans Prédiction, saisir un texte ; dans Performances, comparer les scores. WCAG : 1.1.1 descriptions, tableaux et texte alternatif du nuage ; 1.4.1 libellés et motifs ; 1.4.3 contrastes ; 1.4.4 zoom à 200 % ; 2.4.2 titre de page. Les contrôles restent locaux. Déploiement : GitHub vers Streamlit Community Cloud ; Hugging Face héberge les poids et Streamlit exécute les prédictions. Source : Dashboard/app.py et https://www.w3.org/TR/WCAG21/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210 secondes.</a:t>
            </a:r>
          </a:p>
          <a:p xmlns:a="http://schemas.openxmlformats.org/drawingml/2006/main">
            <a:r>
              <a:t>Démonstration de 3 min 30. Ouvrir le dashboard Streamlit après la mise à jour du dépôt GitHub. Préparer deux phrases : I love this beautiful day et I hate this terrible day. Montrer les filtres, le survol et une alternative en tableau. Montrer le zoom à 200 %. Les performances proviennent du notebook. Une prédiction peut différer d’un label automatiquement généré. Vérifier l’URL web avant la soutenance.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30 secondes.</a:t>
            </a:r>
          </a:p>
          <a:p xmlns:a="http://schemas.openxmlformats.org/drawingml/2006/main">
            <a:r>
              <a:t>Le rappel négatif passe de 83,51 % pour le BiLSTM à 80,82 % pour SetFit. Le gain de score est faible. L’intérêt de SetFit est surtout le budget de données de l’adaptation ; le préentraînement et la validation sont exclus du ratio. Son inférence est plus lente dans ces mesures. Si l’objectif métier est de détecter les messages négatifs, vérifier le rappel de cette classe, qui diminue ici. Pour renforcer la preuve : partitions nettoyées avant entraînement, plusieurs graines, budgets identiques et nouveau test. Source : Results/comparaison_modeles.csv, audit_donnees.json et predictions_test.csv du projet.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prévue : 0 secondes.</a:t>
            </a:r>
          </a:p>
          <a:p xmlns:a="http://schemas.openxmlformats.org/drawingml/2006/main">
            <a:r>
              <a:t>Références principales de la veille revue le 22 octobre 2026. Le corpus provient de Go et al. 2009 : https://cs.stanford.edu/people/alecmgo/papers/TwitterDistantSupervision09.pdf. La documentation officielle est adaptée de SST-2 à Sentiment140. Les nombres proviennent des exports du notebook. Les détails mathématiques sont dans la note et le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50bfeb0d7c4b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ef20f0ed024c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67ad2c744f4a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0dd501d4d444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4cd11883724a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b6d677d96d4a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92DB98-C5BB-4AD0-8389-6FBE0DD229F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035E86-CE56-4EC8-AE39-59049DE15C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0B8C26-3E5E-48EB-A05A-E03F893BBEF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9D6FC9-AB9D-4407-AA3C-8CE60B1B81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35112A-97FC-4A75-965D-C3D2F603762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0D2E48-341A-4BC9-85B4-1394D23B0B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A55F00-BFFA-4D64-852E-C64DC73E1B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98B089-0206-46D6-B549-81A1AD3C29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1D7208-CF77-4166-90A1-94929B23B2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3F8E9B-06BB-419B-89AA-205A93EF46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209d7f604243c6" /><Relationship Type="http://schemas.openxmlformats.org/officeDocument/2006/relationships/slideLayout" Target="/ppt/slideLayouts/slideLayout1.xml" Id="R26666de3172e4093" /><Relationship Type="http://schemas.openxmlformats.org/officeDocument/2006/relationships/slideLayout" Target="/ppt/slideLayouts/slideLayout2.xml" Id="R6a5103a509dd451b" /><Relationship Type="http://schemas.openxmlformats.org/officeDocument/2006/relationships/slideLayout" Target="/ppt/slideLayouts/slideLayout3.xml" Id="R614d7fb4134a45ef" /><Relationship Type="http://schemas.openxmlformats.org/officeDocument/2006/relationships/slideLayout" Target="/ppt/slideLayouts/slideLayout4.xml" Id="R94bdd8f5c6354ade" /><Relationship Type="http://schemas.openxmlformats.org/officeDocument/2006/relationships/slideLayout" Target="/ppt/slideLayouts/slideLayout5.xml" Id="R41982b9c23704595" /><Relationship Type="http://schemas.openxmlformats.org/officeDocument/2006/relationships/slideLayout" Target="/ppt/slideLayouts/slideLayout6.xml" Id="Ra0207c9f7b044b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666de3172e4093"/>
    <p:sldLayoutId xmlns:r="http://schemas.openxmlformats.org/officeDocument/2006/relationships" id="2147483650" r:id="R6a5103a509dd451b"/>
    <p:sldLayoutId xmlns:r="http://schemas.openxmlformats.org/officeDocument/2006/relationships" id="2147483651" r:id="R614d7fb4134a45ef"/>
    <p:sldLayoutId xmlns:r="http://schemas.openxmlformats.org/officeDocument/2006/relationships" id="2147483652" r:id="R94bdd8f5c6354ade"/>
    <p:sldLayoutId xmlns:r="http://schemas.openxmlformats.org/officeDocument/2006/relationships" id="2147483653" r:id="R41982b9c23704595"/>
    <p:sldLayoutId xmlns:r="http://schemas.openxmlformats.org/officeDocument/2006/relationships" id="2147483654" r:id="Ra0207c9f7b044b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f88f07bec394686" /><Relationship Type="http://schemas.openxmlformats.org/officeDocument/2006/relationships/notesSlide" Target="/ppt/notesSlides/notesSlide1.xml" Id="R70595590dddd40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17c0b65124142e8" /><Relationship Type="http://schemas.openxmlformats.org/officeDocument/2006/relationships/notesSlide" Target="/ppt/notesSlides/notesSlide2.xml" Id="R353313ebdd1243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840977837941f4" /><Relationship Type="http://schemas.openxmlformats.org/officeDocument/2006/relationships/notesSlide" Target="/ppt/notesSlides/notesSlide3.xml" Id="R72d6a51450744e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aeec8f67fe24d4d" /><Relationship Type="http://schemas.openxmlformats.org/officeDocument/2006/relationships/notesSlide" Target="/ppt/notesSlides/notesSlide4.xml" Id="R79ec7e97dcd041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434ab04c0814458" /><Relationship Type="http://schemas.openxmlformats.org/officeDocument/2006/relationships/notesSlide" Target="/ppt/notesSlides/notesSlide5.xml" Id="Racb6ef8f46db45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ed8b3be362b4f7b" /><Relationship Type="http://schemas.openxmlformats.org/officeDocument/2006/relationships/notesSlide" Target="/ppt/notesSlides/notesSlide6.xml" Id="R19a4164f959142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38a5921e59345bd" /><Relationship Type="http://schemas.openxmlformats.org/officeDocument/2006/relationships/notesSlide" Target="/ppt/notesSlides/notesSlide7.xml" Id="Red89cda9f06542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06eb6648174c10" /><Relationship Type="http://schemas.openxmlformats.org/officeDocument/2006/relationships/notesSlide" Target="/ppt/notesSlides/notesSlide8.xml" Id="Re4653a39ea7b4e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1b42f72e0a45ae" /><Relationship Type="http://schemas.openxmlformats.org/officeDocument/2006/relationships/notesSlide" Target="/ppt/notesSlides/notesSlide9.xml" Id="R7fe0ea6f21d44e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8210a1e1ca14105" /><Relationship Type="http://schemas.openxmlformats.org/officeDocument/2006/relationships/notesSlide" Target="/ppt/notesSlides/notesSlide10.xml" Id="Recee25b101ed41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8b2006f542a40a1" /><Relationship Type="http://schemas.openxmlformats.org/officeDocument/2006/relationships/chart" Target="/ppt/slides/charts/chart1.xml" Id="R1520fd95d9c84afb" /><Relationship Type="http://schemas.openxmlformats.org/officeDocument/2006/relationships/notesSlide" Target="/ppt/notesSlides/notesSlide11.xml" Id="R629ad19ee5ef4f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4a739bdc94b4576" /><Relationship Type="http://schemas.openxmlformats.org/officeDocument/2006/relationships/notesSlide" Target="/ppt/notesSlides/notesSlide12.xml" Id="R316623977f884e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41993aa0e944eb8" /><Relationship Type="http://schemas.openxmlformats.org/officeDocument/2006/relationships/notesSlide" Target="/ppt/notesSlides/notesSlide13.xml" Id="Re0749b38a51249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5fd013335df4ebe" /><Relationship Type="http://schemas.openxmlformats.org/officeDocument/2006/relationships/notesSlide" Target="/ppt/notesSlides/notesSlide14.xml" Id="R6351c1c15de3482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b2c2783aa2f4783" /><Relationship Type="http://schemas.openxmlformats.org/officeDocument/2006/relationships/notesSlide" Target="/ppt/notesSlides/notesSlide15.xml" Id="R032efcb0bfa44a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3a90f1424834c6d" /><Relationship Type="http://schemas.openxmlformats.org/officeDocument/2006/relationships/notesSlide" Target="/ppt/notesSlides/notesSlide16.xml" Id="R78611fab7864450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df5f4a4fe5c4f16" /><Relationship Type="http://schemas.openxmlformats.org/officeDocument/2006/relationships/notesSlide" Target="/ppt/notesSlides/notesSlide17.xml" Id="R32d60e49d4c040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ecab70eb08643e9" /><Relationship Type="http://schemas.openxmlformats.org/officeDocument/2006/relationships/notesSlide" Target="/ppt/notesSlides/notesSlide18.xml" Id="R7c5ffb64f5bc4f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1c597a65d074f62" /><Relationship Type="http://schemas.openxmlformats.org/officeDocument/2006/relationships/notesSlide" Target="/ppt/notesSlides/notesSlide19.xml" Id="R445948c48aea473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ns0:chartSpace xmlns:ns0="http://schemas.openxmlformats.org/drawingml/2006/chart" xmlns:ns1="http://schemas.openxmlformats.org/drawingml/2006/main" xmlns:r="http://schemas.openxmlformats.org/officeDocument/2006/relationships">
  <ns0:lang val="en-US"/>
  <ns0:chart>
    <ns0:plotArea>
      <ns0:barChart>
        <ns0:barDir val="col"/>
        <ns0:grouping val="clustered"/>
        <ns0:varyColors val="0"/>
        <ns0:ser>
          <ns0:idx val="0"/>
          <ns0:order val="0"/>
          <ns0:tx>
            <ns0:v>Accuracy</ns0:v>
          </ns0:tx>
          <ns0:spPr>
            <ns1:solidFill>
              <ns1:srgbClr val="8DA4BB"/>
            </ns1:solidFill>
          </ns0:spPr>
          <ns0:invertIfNegative val="0"/>
          <ns0:cat>
            <ns0:strRef>
              <ns0:f>'Chart Data'!$A$2:$A$3</ns0:f>
              <ns0:strCache>
                <ns0:ptCount val="2"/>
                <ns0:pt idx="0">
                  <ns0:v>BiLSTM + GloVe</ns0:v>
                </ns0:pt>
                <ns0:pt idx="1">
                  <ns0:v>SetFit + MPNet</ns0:v>
                </ns0:pt>
              </ns0:strCache>
            </ns0:strRef>
          </ns0:cat>
          <ns0:val>
            <ns0:numRef>
              <ns0:f>'Chart Data'!$B$2:$B$3</ns0:f>
              <ns0:numCache>
                <ns0:formatCode>0.0</ns0:formatCode>
                <ns0:ptCount val="2"/>
                <ns0:pt idx="0">
                  <ns0:v>0.812153</ns0:v>
                </ns0:pt>
                <ns0:pt idx="1">
                  <ns0:v>0.816257</ns0:v>
                </ns0:pt>
              </ns0:numCache>
            </ns0:numRef>
          </ns0:val>
        </ns0:ser>
        <ns0:ser>
          <ns0:idx val="1"/>
          <ns0:order val="1"/>
          <ns0:tx>
            <ns0:v>F1 macro</ns0:v>
          </ns0:tx>
          <ns0:spPr>
            <ns1:solidFill>
              <ns1:srgbClr val="234A76"/>
            </ns1:solidFill>
          </ns0:spPr>
          <ns0:invertIfNegative val="0"/>
          <ns0:cat>
            <ns0:strRef>
              <ns0:f>'Chart Data'!$C$2:$C$3</ns0:f>
              <ns0:strCache>
                <ns0:ptCount val="2"/>
                <ns0:pt idx="0">
                  <ns0:v>BiLSTM + GloVe</ns0:v>
                </ns0:pt>
                <ns0:pt idx="1">
                  <ns0:v>SetFit + MPNet</ns0:v>
                </ns0:pt>
              </ns0:strCache>
            </ns0:strRef>
          </ns0:cat>
          <ns0:val>
            <ns0:numRef>
              <ns0:f>'Chart Data'!$D$2:$D$3</ns0:f>
              <ns0:numCache>
                <ns0:formatCode>0.0</ns0:formatCode>
                <ns0:ptCount val="2"/>
                <ns0:pt idx="0">
                  <ns0:v>0.811984</ns0:v>
                </ns0:pt>
                <ns0:pt idx="1">
                  <ns0:v>0.816257</ns0:v>
                </ns0:pt>
              </ns0:numCache>
            </ns0:numRef>
          </ns0:val>
        </ns0:ser>
        <ns0:dLbls>
          <ns0:numFmt formatCode="0.0000" sourceLinked="0"/>
          <ns0:txPr>
            <ns1:bodyPr anchorCtr="1"/>
            <ns1:lstStyle/>
            <ns1:p>
              <ns1:pPr>
                <ns1:defRPr sz="1800">
                  <ns1:latin typeface="Arial"/>
                  <ns1:ea typeface="Arial"/>
                  <ns1:cs typeface="Arial"/>
                </ns1:defRPr>
              </ns1:pPr>
            </ns1:p>
          </ns0:txPr>
          <ns0:dLblPos val="outEnd"/>
          <ns0:showLegendKey val="0"/>
          <ns0:showVal val="1"/>
          <ns0:showCatName val="0"/>
          <ns0:showSerName val="0"/>
          <ns0:showPercent val="0"/>
          <ns0:showBubbleSize val="0"/>
          <ns0:showLeaderLines val="0"/>
        </ns0:dLbls>
        <ns0:axId val="48650112"/>
        <ns0:axId val="48672768"/>
      </ns0:barChart>
      <ns0:catAx>
        <ns0:axId val="48650112"/>
        <ns0:scaling>
          <ns0:orientation val="minMax"/>
        </ns0:scaling>
        <ns0:delete val="0"/>
        <ns0:axPos val="b"/>
        <ns0:numFmt formatCode="General"/>
        <ns0:majorTickMark val="none"/>
        <ns0:minorTickMark val="none"/>
        <ns0:spPr>
          <ns1:ln w="9525">
            <ns1:solidFill>
              <ns1:srgbClr val="D4D4D4"/>
            </ns1:solidFill>
            <ns1:prstDash val="solid"/>
          </ns1:ln>
        </ns0:spPr>
        <ns0:txPr>
          <ns1:bodyPr anchorCtr="1"/>
          <ns1:lstStyle/>
          <ns1:p>
            <ns1:pPr>
              <ns1:defRPr sz="1800">
                <ns1:solidFill>
                  <ns1:srgbClr val="666666"/>
                </ns1:solidFill>
                <ns1:latin typeface="Arial"/>
                <ns1:ea typeface="Arial"/>
                <ns1:cs typeface="Arial"/>
              </ns1:defRPr>
            </ns1:pPr>
          </ns1:p>
        </ns0:txPr>
        <ns0:crossAx val="48672768"/>
      </ns0:catAx>
      <ns0:valAx>
        <ns0:axId val="48672768"/>
        <ns0:scaling>
          <ns0:orientation val="minMax"/>
          <ns0:max val="1"/>
          <ns0:min val="0"/>
        </ns0:scaling>
        <ns0:delete val="0"/>
        <ns0:axPos val="l"/>
        <ns0:numFmt formatCode="0.0"/>
        <ns0:majorTickMark val="none"/>
        <ns0:minorTickMark val="none"/>
        <ns0:spPr>
          <ns1:ln w="9525">
            <ns1:solidFill>
              <ns1:srgbClr val="D4D4D4"/>
            </ns1:solidFill>
            <ns1:prstDash val="solid"/>
          </ns1:ln>
        </ns0:spPr>
        <ns0:txPr>
          <ns1:bodyPr anchorCtr="1"/>
          <ns1:lstStyle/>
          <ns1:p>
            <ns1:pPr>
              <ns1:defRPr sz="1725">
                <ns1:solidFill>
                  <ns1:srgbClr val="666666"/>
                </ns1:solidFill>
                <ns1:latin typeface="Arial"/>
                <ns1:ea typeface="Arial"/>
                <ns1:cs typeface="Arial"/>
              </ns1:defRPr>
            </ns1:pPr>
          </ns1:p>
        </ns0:txPr>
        <ns0:crossAx val="48650112"/>
        <ns0:crossBetween val="between"/>
        <ns0:majorUnit val="0.2"/>
      </ns0:valAx>
    </ns0:plotArea>
    <ns0:legend>
      <ns0:legendPos val="b"/>
      <ns0:overlay val="0"/>
      <ns0:txPr>
        <ns1:bodyPr anchorCtr="1"/>
        <ns1:lstStyle/>
        <ns1:p>
          <ns1:pPr>
            <ns1:defRPr>
              <ns1:latin typeface="Arial"/>
              <ns1:ea typeface="Arial"/>
              <ns1:cs typeface="Arial"/>
            </ns1:defRPr>
          </ns1:pPr>
        </ns1:p>
      </ns0:txPr>
    </ns0:legend>
    <ns0:plotVisOnly val="1"/>
  </ns0:chart>
  <ns0:externalData r:id="rIdChartSnapshot1">
    <ns0:autoUpdate val="0"/>
  </ns0:externalData>
</ns0: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5B8A19-6DAB-494E-B5CE-3D16E71727AB}"/>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Classification de sentiments avec SetFit</a:t>
            </a:r>
          </a:p>
        </p:txBody>
      </p:sp>
      <p:sp>
        <p:nvSpPr>
          <p:cNvPr id="2" name="">
            <a:extLst xmlns:a="http://schemas.openxmlformats.org/drawingml/2006/main">
              <a:ext uri="{FF2B5EF4-FFF2-40B4-BE49-F238E27FC236}">
                <a16:creationId xmlns:a16="http://schemas.microsoft.com/office/drawing/2014/main" id="{6CDC54DD-0652-4AC0-B7D6-FE6EDE0CC184}"/>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9B6B57B0-A8AF-4E9B-96BC-36BF1F5C3565}"/>
              </a:ext>
            </a:extLst>
          </p:cNvPr>
          <p:cNvSpPr>
            <a:spLocks xmlns:a="http://schemas.openxmlformats.org/drawingml/2006/main" noGrp="1"/>
          </p:cNvSpPr>
          <p:nvPr/>
        </p:nvSpPr>
        <p:spPr>
          <a:xfrm xmlns:a="http://schemas.openxmlformats.org/drawingml/2006/main">
            <a:off x="781050" y="2333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182C49"/>
                </a:solidFill>
                <a:latin typeface="Arial"/>
                <a:ea typeface="Arial"/>
                <a:cs typeface="Arial"/>
              </a:defRPr>
            </a:defPPr>
            <a:lvl1pPr>
              <a:defRPr sz="2700" b="0">
                <a:solidFill>
                  <a:srgbClr val="182C49"/>
                </a:solidFill>
                <a:latin typeface="Arial"/>
                <a:ea typeface="Arial"/>
                <a:cs typeface="Arial"/>
              </a:defRPr>
            </a:lvl1pPr>
            <a:lvl2pPr>
              <a:defRPr sz="2700" b="0">
                <a:solidFill>
                  <a:srgbClr val="182C49"/>
                </a:solidFill>
                <a:latin typeface="Arial"/>
                <a:ea typeface="Arial"/>
                <a:cs typeface="Arial"/>
              </a:defRPr>
            </a:lvl2pPr>
            <a:lvl3pPr>
              <a:defRPr sz="2700" b="0">
                <a:solidFill>
                  <a:srgbClr val="182C49"/>
                </a:solidFill>
                <a:latin typeface="Arial"/>
                <a:ea typeface="Arial"/>
                <a:cs typeface="Arial"/>
              </a:defRPr>
            </a:lvl3pPr>
            <a:lvl4pPr>
              <a:defRPr sz="2700" b="0">
                <a:solidFill>
                  <a:srgbClr val="182C49"/>
                </a:solidFill>
                <a:latin typeface="Arial"/>
                <a:ea typeface="Arial"/>
                <a:cs typeface="Arial"/>
              </a:defRPr>
            </a:lvl4pPr>
            <a:lvl5pPr>
              <a:defRPr sz="2700" b="0">
                <a:solidFill>
                  <a:srgbClr val="182C49"/>
                </a:solidFill>
                <a:latin typeface="Arial"/>
                <a:ea typeface="Arial"/>
                <a:cs typeface="Arial"/>
              </a:defRPr>
            </a:lvl5pPr>
            <a:lvl6pPr>
              <a:defRPr sz="2700" b="0">
                <a:solidFill>
                  <a:srgbClr val="182C49"/>
                </a:solidFill>
                <a:latin typeface="Arial"/>
                <a:ea typeface="Arial"/>
                <a:cs typeface="Arial"/>
              </a:defRPr>
            </a:lvl6pPr>
            <a:lvl7pPr>
              <a:defRPr sz="2700" b="0">
                <a:solidFill>
                  <a:srgbClr val="182C49"/>
                </a:solidFill>
                <a:latin typeface="Arial"/>
                <a:ea typeface="Arial"/>
                <a:cs typeface="Arial"/>
              </a:defRPr>
            </a:lvl7pPr>
            <a:lvl8pPr>
              <a:defRPr sz="2700" b="0">
                <a:solidFill>
                  <a:srgbClr val="182C49"/>
                </a:solidFill>
                <a:latin typeface="Arial"/>
                <a:ea typeface="Arial"/>
                <a:cs typeface="Arial"/>
              </a:defRPr>
            </a:lvl8pPr>
            <a:lvl9pPr>
              <a:defRPr sz="2700" b="0">
                <a:solidFill>
                  <a:srgbClr val="182C49"/>
                </a:solidFill>
                <a:latin typeface="Arial"/>
                <a:ea typeface="Arial"/>
                <a:cs typeface="Arial"/>
              </a:defRPr>
            </a:lvl9pPr>
          </a:lstStyle>
          <a:p xmlns:a="http://schemas.openxmlformats.org/drawingml/2006/main">
            <a:pPr>
              <a:defRPr sz="2700" b="0">
                <a:solidFill>
                  <a:srgbClr val="182C49"/>
                </a:solidFill>
                <a:latin typeface="Arial"/>
                <a:ea typeface="Arial"/>
                <a:cs typeface="Arial"/>
              </a:defRPr>
            </a:pPr>
            <a:r>
              <a:rPr sz="2700" b="0">
                <a:solidFill>
                  <a:srgbClr val="182C49"/>
                </a:solidFill>
                <a:latin typeface="Arial"/>
                <a:ea typeface="Arial"/>
                <a:cs typeface="Arial"/>
              </a:rPr>
              <a:t>Preuve de concept sur Sentiment140</a:t>
            </a:r>
          </a:p>
        </p:txBody>
      </p:sp>
      <p:sp>
        <p:nvSpPr>
          <p:cNvPr id="4" name="">
            <a:extLst xmlns:a="http://schemas.openxmlformats.org/drawingml/2006/main">
              <a:ext uri="{FF2B5EF4-FFF2-40B4-BE49-F238E27FC236}">
                <a16:creationId xmlns:a16="http://schemas.microsoft.com/office/drawing/2014/main" id="{3502C646-5B4E-4FF9-8709-14FEADAB297F}"/>
              </a:ext>
            </a:extLst>
          </p:cNvPr>
          <p:cNvSpPr>
            <a:spLocks xmlns:a="http://schemas.openxmlformats.org/drawingml/2006/main" noGrp="1"/>
          </p:cNvSpPr>
          <p:nvPr/>
        </p:nvSpPr>
        <p:spPr>
          <a:xfrm xmlns:a="http://schemas.openxmlformats.org/drawingml/2006/main">
            <a:off x="781050" y="4143375"/>
            <a:ext cx="9334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Allan CHARDON</a:t>
            </a:r>
          </a:p>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Projet 9</a:t>
            </a:r>
          </a:p>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22 octobre 2026</a:t>
            </a:r>
          </a:p>
        </p:txBody>
      </p:sp>
    </p:spTree>
    <p:extLst>
      <p:ext uri="{BB962C8B-B14F-4D97-AF65-F5344CB8AC3E}">
        <p14:creationId xmlns:p14="http://schemas.microsoft.com/office/powerpoint/2010/main" val="15609284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43C21D-0271-469C-8B28-08A2FF5722BC}"/>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Objectif de la preuve de concept</a:t>
            </a:r>
          </a:p>
        </p:txBody>
      </p:sp>
      <p:sp>
        <p:nvSpPr>
          <p:cNvPr id="2" name="">
            <a:extLst xmlns:a="http://schemas.openxmlformats.org/drawingml/2006/main">
              <a:ext uri="{FF2B5EF4-FFF2-40B4-BE49-F238E27FC236}">
                <a16:creationId xmlns:a16="http://schemas.microsoft.com/office/drawing/2014/main" id="{A72E64DE-9462-40A3-8CE5-E052C7B57472}"/>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2C1EFC6D-FE26-4668-92AF-C5DAB8251D2C}"/>
              </a:ext>
            </a:extLst>
          </p:cNvPr>
          <p:cNvSpPr>
            <a:spLocks xmlns:a="http://schemas.openxmlformats.org/drawingml/2006/main" noGrp="1"/>
          </p:cNvSpPr>
          <p:nvPr/>
        </p:nvSpPr>
        <p:spPr>
          <a:xfrm xmlns:a="http://schemas.openxmlformats.org/drawingml/2006/main">
            <a:off x="781050" y="176212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C49"/>
                </a:solidFill>
                <a:latin typeface="Arial"/>
                <a:ea typeface="Arial"/>
                <a:cs typeface="Arial"/>
              </a:defRPr>
            </a:defPPr>
            <a:lvl1pPr>
              <a:defRPr sz="2250" b="0">
                <a:solidFill>
                  <a:srgbClr val="182C49"/>
                </a:solidFill>
                <a:latin typeface="Arial"/>
                <a:ea typeface="Arial"/>
                <a:cs typeface="Arial"/>
              </a:defRPr>
            </a:lvl1pPr>
            <a:lvl2pPr>
              <a:defRPr sz="2250" b="0">
                <a:solidFill>
                  <a:srgbClr val="182C49"/>
                </a:solidFill>
                <a:latin typeface="Arial"/>
                <a:ea typeface="Arial"/>
                <a:cs typeface="Arial"/>
              </a:defRPr>
            </a:lvl2pPr>
            <a:lvl3pPr>
              <a:defRPr sz="2250" b="0">
                <a:solidFill>
                  <a:srgbClr val="182C49"/>
                </a:solidFill>
                <a:latin typeface="Arial"/>
                <a:ea typeface="Arial"/>
                <a:cs typeface="Arial"/>
              </a:defRPr>
            </a:lvl3pPr>
            <a:lvl4pPr>
              <a:defRPr sz="2250" b="0">
                <a:solidFill>
                  <a:srgbClr val="182C49"/>
                </a:solidFill>
                <a:latin typeface="Arial"/>
                <a:ea typeface="Arial"/>
                <a:cs typeface="Arial"/>
              </a:defRPr>
            </a:lvl4pPr>
            <a:lvl5pPr>
              <a:defRPr sz="2250" b="0">
                <a:solidFill>
                  <a:srgbClr val="182C49"/>
                </a:solidFill>
                <a:latin typeface="Arial"/>
                <a:ea typeface="Arial"/>
                <a:cs typeface="Arial"/>
              </a:defRPr>
            </a:lvl5pPr>
            <a:lvl6pPr>
              <a:defRPr sz="2250" b="0">
                <a:solidFill>
                  <a:srgbClr val="182C49"/>
                </a:solidFill>
                <a:latin typeface="Arial"/>
                <a:ea typeface="Arial"/>
                <a:cs typeface="Arial"/>
              </a:defRPr>
            </a:lvl6pPr>
            <a:lvl7pPr>
              <a:defRPr sz="2250" b="0">
                <a:solidFill>
                  <a:srgbClr val="182C49"/>
                </a:solidFill>
                <a:latin typeface="Arial"/>
                <a:ea typeface="Arial"/>
                <a:cs typeface="Arial"/>
              </a:defRPr>
            </a:lvl7pPr>
            <a:lvl8pPr>
              <a:defRPr sz="2250" b="0">
                <a:solidFill>
                  <a:srgbClr val="182C49"/>
                </a:solidFill>
                <a:latin typeface="Arial"/>
                <a:ea typeface="Arial"/>
                <a:cs typeface="Arial"/>
              </a:defRPr>
            </a:lvl8pPr>
            <a:lvl9pPr>
              <a:defRPr sz="2250" b="0">
                <a:solidFill>
                  <a:srgbClr val="182C49"/>
                </a:solidFill>
                <a:latin typeface="Arial"/>
                <a:ea typeface="Arial"/>
                <a:cs typeface="Arial"/>
              </a:defRPr>
            </a:lvl9pPr>
          </a:lstStyle>
          <a:p xmlns:a="http://schemas.openxmlformats.org/drawingml/2006/main">
            <a:pPr>
              <a:defRPr sz="2250" b="0">
                <a:solidFill>
                  <a:srgbClr val="182C49"/>
                </a:solidFill>
                <a:latin typeface="Arial"/>
                <a:ea typeface="Arial"/>
                <a:cs typeface="Arial"/>
              </a:defRPr>
            </a:pPr>
            <a:r>
              <a:rPr sz="2250" b="0">
                <a:solidFill>
                  <a:srgbClr val="182C49"/>
                </a:solidFill>
                <a:latin typeface="Arial"/>
                <a:ea typeface="Arial"/>
                <a:cs typeface="Arial"/>
              </a:rPr>
              <a:t>Prédire le sentiment positif ou négatif de tweets en anglais.</a:t>
            </a:r>
          </a:p>
        </p:txBody>
      </p:sp>
      <p:sp>
        <p:nvSpPr>
          <p:cNvPr id="4" name="">
            <a:extLst xmlns:a="http://schemas.openxmlformats.org/drawingml/2006/main">
              <a:ext uri="{FF2B5EF4-FFF2-40B4-BE49-F238E27FC236}">
                <a16:creationId xmlns:a16="http://schemas.microsoft.com/office/drawing/2014/main" id="{99AE8ED0-1233-4D0D-9722-A9A6D4277D61}"/>
              </a:ext>
            </a:extLst>
          </p:cNvPr>
          <p:cNvSpPr>
            <a:spLocks xmlns:a="http://schemas.openxmlformats.org/drawingml/2006/main" noGrp="1"/>
          </p:cNvSpPr>
          <p:nvPr/>
        </p:nvSpPr>
        <p:spPr>
          <a:xfrm xmlns:a="http://schemas.openxmlformats.org/drawingml/2006/main">
            <a:off x="781050" y="2762250"/>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C49"/>
                </a:solidFill>
                <a:latin typeface="Arial"/>
                <a:ea typeface="Arial"/>
                <a:cs typeface="Arial"/>
              </a:defRPr>
            </a:defPPr>
            <a:lvl1pPr>
              <a:defRPr sz="2250" b="0">
                <a:solidFill>
                  <a:srgbClr val="182C49"/>
                </a:solidFill>
                <a:latin typeface="Arial"/>
                <a:ea typeface="Arial"/>
                <a:cs typeface="Arial"/>
              </a:defRPr>
            </a:lvl1pPr>
            <a:lvl2pPr>
              <a:defRPr sz="2250" b="0">
                <a:solidFill>
                  <a:srgbClr val="182C49"/>
                </a:solidFill>
                <a:latin typeface="Arial"/>
                <a:ea typeface="Arial"/>
                <a:cs typeface="Arial"/>
              </a:defRPr>
            </a:lvl2pPr>
            <a:lvl3pPr>
              <a:defRPr sz="2250" b="0">
                <a:solidFill>
                  <a:srgbClr val="182C49"/>
                </a:solidFill>
                <a:latin typeface="Arial"/>
                <a:ea typeface="Arial"/>
                <a:cs typeface="Arial"/>
              </a:defRPr>
            </a:lvl3pPr>
            <a:lvl4pPr>
              <a:defRPr sz="2250" b="0">
                <a:solidFill>
                  <a:srgbClr val="182C49"/>
                </a:solidFill>
                <a:latin typeface="Arial"/>
                <a:ea typeface="Arial"/>
                <a:cs typeface="Arial"/>
              </a:defRPr>
            </a:lvl4pPr>
            <a:lvl5pPr>
              <a:defRPr sz="2250" b="0">
                <a:solidFill>
                  <a:srgbClr val="182C49"/>
                </a:solidFill>
                <a:latin typeface="Arial"/>
                <a:ea typeface="Arial"/>
                <a:cs typeface="Arial"/>
              </a:defRPr>
            </a:lvl5pPr>
            <a:lvl6pPr>
              <a:defRPr sz="2250" b="0">
                <a:solidFill>
                  <a:srgbClr val="182C49"/>
                </a:solidFill>
                <a:latin typeface="Arial"/>
                <a:ea typeface="Arial"/>
                <a:cs typeface="Arial"/>
              </a:defRPr>
            </a:lvl6pPr>
            <a:lvl7pPr>
              <a:defRPr sz="2250" b="0">
                <a:solidFill>
                  <a:srgbClr val="182C49"/>
                </a:solidFill>
                <a:latin typeface="Arial"/>
                <a:ea typeface="Arial"/>
                <a:cs typeface="Arial"/>
              </a:defRPr>
            </a:lvl7pPr>
            <a:lvl8pPr>
              <a:defRPr sz="2250" b="0">
                <a:solidFill>
                  <a:srgbClr val="182C49"/>
                </a:solidFill>
                <a:latin typeface="Arial"/>
                <a:ea typeface="Arial"/>
                <a:cs typeface="Arial"/>
              </a:defRPr>
            </a:lvl8pPr>
            <a:lvl9pPr>
              <a:defRPr sz="2250" b="0">
                <a:solidFill>
                  <a:srgbClr val="182C49"/>
                </a:solidFill>
                <a:latin typeface="Arial"/>
                <a:ea typeface="Arial"/>
                <a:cs typeface="Arial"/>
              </a:defRPr>
            </a:lvl9pPr>
          </a:lstStyle>
          <a:p xmlns:a="http://schemas.openxmlformats.org/drawingml/2006/main">
            <a:pPr>
              <a:defRPr sz="2250" b="0">
                <a:solidFill>
                  <a:srgbClr val="182C49"/>
                </a:solidFill>
                <a:latin typeface="Arial"/>
                <a:ea typeface="Arial"/>
                <a:cs typeface="Arial"/>
              </a:defRPr>
            </a:pPr>
            <a:r>
              <a:rPr sz="2250" b="0">
                <a:solidFill>
                  <a:srgbClr val="182C49"/>
                </a:solidFill>
                <a:latin typeface="Arial"/>
                <a:ea typeface="Arial"/>
                <a:cs typeface="Arial"/>
              </a:rPr>
              <a:t>Comparer une méthode récente à une baseline déjà entraînée.</a:t>
            </a:r>
          </a:p>
        </p:txBody>
      </p:sp>
      <p:sp>
        <p:nvSpPr>
          <p:cNvPr id="5" name="">
            <a:extLst xmlns:a="http://schemas.openxmlformats.org/drawingml/2006/main">
              <a:ext uri="{FF2B5EF4-FFF2-40B4-BE49-F238E27FC236}">
                <a16:creationId xmlns:a16="http://schemas.microsoft.com/office/drawing/2014/main" id="{DC743F29-9AA4-4AFF-A7FC-DFCEC22561B1}"/>
              </a:ext>
            </a:extLst>
          </p:cNvPr>
          <p:cNvSpPr>
            <a:spLocks xmlns:a="http://schemas.openxmlformats.org/drawingml/2006/main" noGrp="1"/>
          </p:cNvSpPr>
          <p:nvPr/>
        </p:nvSpPr>
        <p:spPr>
          <a:xfrm xmlns:a="http://schemas.openxmlformats.org/drawingml/2006/main">
            <a:off x="781050" y="376237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C49"/>
                </a:solidFill>
                <a:latin typeface="Arial"/>
                <a:ea typeface="Arial"/>
                <a:cs typeface="Arial"/>
              </a:defRPr>
            </a:defPPr>
            <a:lvl1pPr>
              <a:defRPr sz="2250" b="0">
                <a:solidFill>
                  <a:srgbClr val="182C49"/>
                </a:solidFill>
                <a:latin typeface="Arial"/>
                <a:ea typeface="Arial"/>
                <a:cs typeface="Arial"/>
              </a:defRPr>
            </a:lvl1pPr>
            <a:lvl2pPr>
              <a:defRPr sz="2250" b="0">
                <a:solidFill>
                  <a:srgbClr val="182C49"/>
                </a:solidFill>
                <a:latin typeface="Arial"/>
                <a:ea typeface="Arial"/>
                <a:cs typeface="Arial"/>
              </a:defRPr>
            </a:lvl2pPr>
            <a:lvl3pPr>
              <a:defRPr sz="2250" b="0">
                <a:solidFill>
                  <a:srgbClr val="182C49"/>
                </a:solidFill>
                <a:latin typeface="Arial"/>
                <a:ea typeface="Arial"/>
                <a:cs typeface="Arial"/>
              </a:defRPr>
            </a:lvl3pPr>
            <a:lvl4pPr>
              <a:defRPr sz="2250" b="0">
                <a:solidFill>
                  <a:srgbClr val="182C49"/>
                </a:solidFill>
                <a:latin typeface="Arial"/>
                <a:ea typeface="Arial"/>
                <a:cs typeface="Arial"/>
              </a:defRPr>
            </a:lvl4pPr>
            <a:lvl5pPr>
              <a:defRPr sz="2250" b="0">
                <a:solidFill>
                  <a:srgbClr val="182C49"/>
                </a:solidFill>
                <a:latin typeface="Arial"/>
                <a:ea typeface="Arial"/>
                <a:cs typeface="Arial"/>
              </a:defRPr>
            </a:lvl5pPr>
            <a:lvl6pPr>
              <a:defRPr sz="2250" b="0">
                <a:solidFill>
                  <a:srgbClr val="182C49"/>
                </a:solidFill>
                <a:latin typeface="Arial"/>
                <a:ea typeface="Arial"/>
                <a:cs typeface="Arial"/>
              </a:defRPr>
            </a:lvl6pPr>
            <a:lvl7pPr>
              <a:defRPr sz="2250" b="0">
                <a:solidFill>
                  <a:srgbClr val="182C49"/>
                </a:solidFill>
                <a:latin typeface="Arial"/>
                <a:ea typeface="Arial"/>
                <a:cs typeface="Arial"/>
              </a:defRPr>
            </a:lvl7pPr>
            <a:lvl8pPr>
              <a:defRPr sz="2250" b="0">
                <a:solidFill>
                  <a:srgbClr val="182C49"/>
                </a:solidFill>
                <a:latin typeface="Arial"/>
                <a:ea typeface="Arial"/>
                <a:cs typeface="Arial"/>
              </a:defRPr>
            </a:lvl8pPr>
            <a:lvl9pPr>
              <a:defRPr sz="2250" b="0">
                <a:solidFill>
                  <a:srgbClr val="182C49"/>
                </a:solidFill>
                <a:latin typeface="Arial"/>
                <a:ea typeface="Arial"/>
                <a:cs typeface="Arial"/>
              </a:defRPr>
            </a:lvl9pPr>
          </a:lstStyle>
          <a:p xmlns:a="http://schemas.openxmlformats.org/drawingml/2006/main">
            <a:pPr>
              <a:defRPr sz="2250" b="0">
                <a:solidFill>
                  <a:srgbClr val="182C49"/>
                </a:solidFill>
                <a:latin typeface="Arial"/>
                <a:ea typeface="Arial"/>
                <a:cs typeface="Arial"/>
              </a:defRPr>
            </a:pPr>
            <a:r>
              <a:rPr sz="2250" b="0">
                <a:solidFill>
                  <a:srgbClr val="182C49"/>
                </a:solidFill>
                <a:latin typeface="Arial"/>
                <a:ea typeface="Arial"/>
                <a:cs typeface="Arial"/>
              </a:rPr>
              <a:t>Mesurer la qualité prédictive et le besoin en données labellisées.</a:t>
            </a:r>
          </a:p>
        </p:txBody>
      </p:sp>
      <p:sp>
        <p:nvSpPr>
          <p:cNvPr id="6" name="">
            <a:extLst xmlns:a="http://schemas.openxmlformats.org/drawingml/2006/main">
              <a:ext uri="{FF2B5EF4-FFF2-40B4-BE49-F238E27FC236}">
                <a16:creationId xmlns:a16="http://schemas.microsoft.com/office/drawing/2014/main" id="{E0E6B817-F2FF-4B1C-A66E-4ACA2526992E}"/>
              </a:ext>
            </a:extLst>
          </p:cNvPr>
          <p:cNvSpPr>
            <a:spLocks xmlns:a="http://schemas.openxmlformats.org/drawingml/2006/main" noGrp="1"/>
          </p:cNvSpPr>
          <p:nvPr/>
        </p:nvSpPr>
        <p:spPr>
          <a:xfrm xmlns:a="http://schemas.openxmlformats.org/drawingml/2006/main">
            <a:off x="781050" y="4762500"/>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C49"/>
                </a:solidFill>
                <a:latin typeface="Arial"/>
                <a:ea typeface="Arial"/>
                <a:cs typeface="Arial"/>
              </a:defRPr>
            </a:defPPr>
            <a:lvl1pPr>
              <a:defRPr sz="2250" b="0">
                <a:solidFill>
                  <a:srgbClr val="182C49"/>
                </a:solidFill>
                <a:latin typeface="Arial"/>
                <a:ea typeface="Arial"/>
                <a:cs typeface="Arial"/>
              </a:defRPr>
            </a:lvl1pPr>
            <a:lvl2pPr>
              <a:defRPr sz="2250" b="0">
                <a:solidFill>
                  <a:srgbClr val="182C49"/>
                </a:solidFill>
                <a:latin typeface="Arial"/>
                <a:ea typeface="Arial"/>
                <a:cs typeface="Arial"/>
              </a:defRPr>
            </a:lvl2pPr>
            <a:lvl3pPr>
              <a:defRPr sz="2250" b="0">
                <a:solidFill>
                  <a:srgbClr val="182C49"/>
                </a:solidFill>
                <a:latin typeface="Arial"/>
                <a:ea typeface="Arial"/>
                <a:cs typeface="Arial"/>
              </a:defRPr>
            </a:lvl3pPr>
            <a:lvl4pPr>
              <a:defRPr sz="2250" b="0">
                <a:solidFill>
                  <a:srgbClr val="182C49"/>
                </a:solidFill>
                <a:latin typeface="Arial"/>
                <a:ea typeface="Arial"/>
                <a:cs typeface="Arial"/>
              </a:defRPr>
            </a:lvl4pPr>
            <a:lvl5pPr>
              <a:defRPr sz="2250" b="0">
                <a:solidFill>
                  <a:srgbClr val="182C49"/>
                </a:solidFill>
                <a:latin typeface="Arial"/>
                <a:ea typeface="Arial"/>
                <a:cs typeface="Arial"/>
              </a:defRPr>
            </a:lvl5pPr>
            <a:lvl6pPr>
              <a:defRPr sz="2250" b="0">
                <a:solidFill>
                  <a:srgbClr val="182C49"/>
                </a:solidFill>
                <a:latin typeface="Arial"/>
                <a:ea typeface="Arial"/>
                <a:cs typeface="Arial"/>
              </a:defRPr>
            </a:lvl6pPr>
            <a:lvl7pPr>
              <a:defRPr sz="2250" b="0">
                <a:solidFill>
                  <a:srgbClr val="182C49"/>
                </a:solidFill>
                <a:latin typeface="Arial"/>
                <a:ea typeface="Arial"/>
                <a:cs typeface="Arial"/>
              </a:defRPr>
            </a:lvl7pPr>
            <a:lvl8pPr>
              <a:defRPr sz="2250" b="0">
                <a:solidFill>
                  <a:srgbClr val="182C49"/>
                </a:solidFill>
                <a:latin typeface="Arial"/>
                <a:ea typeface="Arial"/>
                <a:cs typeface="Arial"/>
              </a:defRPr>
            </a:lvl8pPr>
            <a:lvl9pPr>
              <a:defRPr sz="2250" b="0">
                <a:solidFill>
                  <a:srgbClr val="182C49"/>
                </a:solidFill>
                <a:latin typeface="Arial"/>
                <a:ea typeface="Arial"/>
                <a:cs typeface="Arial"/>
              </a:defRPr>
            </a:lvl9pPr>
          </a:lstStyle>
          <a:p xmlns:a="http://schemas.openxmlformats.org/drawingml/2006/main">
            <a:pPr>
              <a:defRPr sz="2250" b="0">
                <a:solidFill>
                  <a:srgbClr val="182C49"/>
                </a:solidFill>
                <a:latin typeface="Arial"/>
                <a:ea typeface="Arial"/>
                <a:cs typeface="Arial"/>
              </a:defRPr>
            </a:pPr>
            <a:r>
              <a:rPr sz="2250" b="0">
                <a:solidFill>
                  <a:srgbClr val="182C49"/>
                </a:solidFill>
                <a:latin typeface="Arial"/>
                <a:ea typeface="Arial"/>
                <a:cs typeface="Arial"/>
              </a:rPr>
              <a:t>Présenter les prédictions dans le dashboard Streamlit existant.</a:t>
            </a:r>
          </a:p>
        </p:txBody>
      </p:sp>
    </p:spTree>
    <p:extLst>
      <p:ext uri="{BB962C8B-B14F-4D97-AF65-F5344CB8AC3E}">
        <p14:creationId xmlns:p14="http://schemas.microsoft.com/office/powerpoint/2010/main" val="21377561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13B6D9-CCBA-4858-8270-760DC28904B7}"/>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Le dataset Sentiment140</a:t>
            </a:r>
          </a:p>
        </p:txBody>
      </p:sp>
      <p:sp>
        <p:nvSpPr>
          <p:cNvPr id="2" name="">
            <a:extLst xmlns:a="http://schemas.openxmlformats.org/drawingml/2006/main">
              <a:ext uri="{FF2B5EF4-FFF2-40B4-BE49-F238E27FC236}">
                <a16:creationId xmlns:a16="http://schemas.microsoft.com/office/drawing/2014/main" id="{B0C6CF5A-BDCC-4297-9471-CF26D8C6E83D}"/>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3</a:t>
            </a:r>
          </a:p>
        </p:txBody>
      </p:sp>
      <p:graphicFrame>
        <p:nvGraphicFramePr>
          <p:cNvPr id="3" name="">
            <a:extLst xmlns:a="http://schemas.openxmlformats.org/drawingml/2006/main">
              <a:ext uri="{FF2B5EF4-FFF2-40B4-BE49-F238E27FC236}">
                <a16:creationId xmlns:a16="http://schemas.microsoft.com/office/drawing/2014/main" id="{1AE3AD96-60C9-433B-B50B-ED1EC097C17E}"/>
              </a:ext>
            </a:extLst>
          </p:cNvPr>
          <p:cNvGraphicFramePr/>
          <p:nvPr/>
        </p:nvGraphicFramePr>
        <p:xfrm>
          <a:off xmlns:a="http://schemas.openxmlformats.org/drawingml/2006/main" x="762000" y="1666875"/>
          <a:ext xmlns:a="http://schemas.openxmlformats.org/drawingml/2006/main" cx="10668000" cy="3714750"/>
        </p:xfrm>
        <a:graphic xmlns:a="http://schemas.openxmlformats.org/drawingml/2006/main">
          <a:graphicData uri="http://schemas.openxmlformats.org/drawingml/2006/table">
            <a:tbl>
              <a:tblPr/>
              <a:tblGrid>
                <a:gridCol w="3524250"/>
                <a:gridCol w="7143750"/>
              </a:tblGrid>
              <a:tr h="742950">
                <a:tc>
                  <a:txBody>
                    <a:bodyPr/>
                    <a:lstStyle/>
                    <a:p>
                      <a:r>
                        <a:rPr sz="1875" b="1">
                          <a:solidFill>
                            <a:srgbClr val="182C49"/>
                          </a:solidFill>
                          <a:latin typeface="Arial"/>
                          <a:ea typeface="Arial"/>
                          <a:cs typeface="Arial"/>
                        </a:rPr>
                        <a:t>Propriété</a:t>
                      </a:r>
                    </a:p>
                  </a:txBody>
                  <a:tcPr marL="114300" marR="114300" marT="114300" marB="114300">
                    <a:lnL w="9525">
                      <a:solidFill>
                        <a:srgbClr val="D6DCE4"/>
                      </a:solidFill>
                      <a:prstDash val="solid"/>
                    </a:lnL>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Choix du projet</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r>
              <a:tr h="742950">
                <a:tc>
                  <a:txBody>
                    <a:bodyPr/>
                    <a:lstStyle/>
                    <a:p>
                      <a:r>
                        <a:rPr sz="1875">
                          <a:solidFill>
                            <a:srgbClr val="182C49"/>
                          </a:solidFill>
                          <a:latin typeface="Arial"/>
                          <a:ea typeface="Arial"/>
                          <a:cs typeface="Arial"/>
                        </a:rPr>
                        <a:t>Corpus</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1 600 000 tweets en anglais</a:t>
                      </a:r>
                    </a:p>
                  </a:txBody>
                  <a:tcPr marL="114300" marR="114300" marT="114300" marB="114300">
                    <a:lnR w="9525">
                      <a:solidFill>
                        <a:srgbClr val="D6DCE4"/>
                      </a:solidFill>
                      <a:prstDash val="solid"/>
                    </a:lnR>
                    <a:lnB w="9525">
                      <a:solidFill>
                        <a:srgbClr val="D6DCE4"/>
                      </a:solidFill>
                      <a:prstDash val="solid"/>
                    </a:lnB>
                  </a:tcPr>
                </a:tc>
              </a:tr>
              <a:tr h="742950">
                <a:tc>
                  <a:txBody>
                    <a:bodyPr/>
                    <a:lstStyle/>
                    <a:p>
                      <a:r>
                        <a:rPr sz="1875">
                          <a:solidFill>
                            <a:srgbClr val="182C49"/>
                          </a:solidFill>
                          <a:latin typeface="Arial"/>
                          <a:ea typeface="Arial"/>
                          <a:cs typeface="Arial"/>
                        </a:rPr>
                        <a:t>Classes</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800 000 négatifs et 800 000 positifs</a:t>
                      </a:r>
                    </a:p>
                  </a:txBody>
                  <a:tcPr marL="114300" marR="114300" marT="114300" marB="114300">
                    <a:lnR w="9525">
                      <a:solidFill>
                        <a:srgbClr val="D6DCE4"/>
                      </a:solidFill>
                      <a:prstDash val="solid"/>
                    </a:lnR>
                    <a:lnB w="9525">
                      <a:solidFill>
                        <a:srgbClr val="D6DCE4"/>
                      </a:solidFill>
                      <a:prstDash val="solid"/>
                    </a:lnB>
                  </a:tcPr>
                </a:tc>
              </a:tr>
              <a:tr h="742950">
                <a:tc>
                  <a:txBody>
                    <a:bodyPr/>
                    <a:lstStyle/>
                    <a:p>
                      <a:r>
                        <a:rPr sz="1875">
                          <a:solidFill>
                            <a:srgbClr val="182C49"/>
                          </a:solidFill>
                          <a:latin typeface="Arial"/>
                          <a:ea typeface="Arial"/>
                          <a:cs typeface="Arial"/>
                        </a:rPr>
                        <a:t>Labels</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0 pour négatif, 4 converti en 1 pour positif</a:t>
                      </a:r>
                    </a:p>
                  </a:txBody>
                  <a:tcPr marL="114300" marR="114300" marT="114300" marB="114300">
                    <a:lnR w="9525">
                      <a:solidFill>
                        <a:srgbClr val="D6DCE4"/>
                      </a:solidFill>
                      <a:prstDash val="solid"/>
                    </a:lnR>
                    <a:lnB w="9525">
                      <a:solidFill>
                        <a:srgbClr val="D6DCE4"/>
                      </a:solidFill>
                      <a:prstDash val="solid"/>
                    </a:lnB>
                  </a:tcPr>
                </a:tc>
              </a:tr>
              <a:tr h="742950">
                <a:tc>
                  <a:txBody>
                    <a:bodyPr/>
                    <a:lstStyle/>
                    <a:p>
                      <a:r>
                        <a:rPr sz="1875">
                          <a:solidFill>
                            <a:srgbClr val="182C49"/>
                          </a:solidFill>
                          <a:latin typeface="Arial"/>
                          <a:ea typeface="Arial"/>
                          <a:cs typeface="Arial"/>
                        </a:rPr>
                        <a:t>Origine des annotations</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Émoticônes utilisées comme supervision distante</a:t>
                      </a:r>
                    </a:p>
                  </a:txBody>
                  <a:tcPr marL="114300" marR="114300" marT="114300" marB="114300">
                    <a:lnR w="9525">
                      <a:solidFill>
                        <a:srgbClr val="D6DCE4"/>
                      </a:solidFill>
                      <a:prstDash val="solid"/>
                    </a:lnR>
                    <a:lnB w="9525">
                      <a:solidFill>
                        <a:srgbClr val="D6DCE4"/>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74604373-E1FE-4F6E-A72D-88114EB7A54C}"/>
              </a:ext>
            </a:extLst>
          </p:cNvPr>
          <p:cNvSpPr>
            <a:spLocks xmlns:a="http://schemas.openxmlformats.org/drawingml/2006/main" noGrp="1"/>
          </p:cNvSpPr>
          <p:nvPr/>
        </p:nvSpPr>
        <p:spPr>
          <a:xfrm xmlns:a="http://schemas.openxmlformats.org/drawingml/2006/main">
            <a:off x="781050" y="56197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C49"/>
                </a:solidFill>
                <a:latin typeface="Arial"/>
                <a:ea typeface="Arial"/>
                <a:cs typeface="Arial"/>
              </a:defRPr>
            </a:defPPr>
            <a:lvl1pPr>
              <a:defRPr sz="2025" b="0">
                <a:solidFill>
                  <a:srgbClr val="182C49"/>
                </a:solidFill>
                <a:latin typeface="Arial"/>
                <a:ea typeface="Arial"/>
                <a:cs typeface="Arial"/>
              </a:defRPr>
            </a:lvl1pPr>
            <a:lvl2pPr>
              <a:defRPr sz="2025" b="0">
                <a:solidFill>
                  <a:srgbClr val="182C49"/>
                </a:solidFill>
                <a:latin typeface="Arial"/>
                <a:ea typeface="Arial"/>
                <a:cs typeface="Arial"/>
              </a:defRPr>
            </a:lvl2pPr>
            <a:lvl3pPr>
              <a:defRPr sz="2025" b="0">
                <a:solidFill>
                  <a:srgbClr val="182C49"/>
                </a:solidFill>
                <a:latin typeface="Arial"/>
                <a:ea typeface="Arial"/>
                <a:cs typeface="Arial"/>
              </a:defRPr>
            </a:lvl3pPr>
            <a:lvl4pPr>
              <a:defRPr sz="2025" b="0">
                <a:solidFill>
                  <a:srgbClr val="182C49"/>
                </a:solidFill>
                <a:latin typeface="Arial"/>
                <a:ea typeface="Arial"/>
                <a:cs typeface="Arial"/>
              </a:defRPr>
            </a:lvl4pPr>
            <a:lvl5pPr>
              <a:defRPr sz="2025" b="0">
                <a:solidFill>
                  <a:srgbClr val="182C49"/>
                </a:solidFill>
                <a:latin typeface="Arial"/>
                <a:ea typeface="Arial"/>
                <a:cs typeface="Arial"/>
              </a:defRPr>
            </a:lvl5pPr>
            <a:lvl6pPr>
              <a:defRPr sz="2025" b="0">
                <a:solidFill>
                  <a:srgbClr val="182C49"/>
                </a:solidFill>
                <a:latin typeface="Arial"/>
                <a:ea typeface="Arial"/>
                <a:cs typeface="Arial"/>
              </a:defRPr>
            </a:lvl6pPr>
            <a:lvl7pPr>
              <a:defRPr sz="2025" b="0">
                <a:solidFill>
                  <a:srgbClr val="182C49"/>
                </a:solidFill>
                <a:latin typeface="Arial"/>
                <a:ea typeface="Arial"/>
                <a:cs typeface="Arial"/>
              </a:defRPr>
            </a:lvl7pPr>
            <a:lvl8pPr>
              <a:defRPr sz="2025" b="0">
                <a:solidFill>
                  <a:srgbClr val="182C49"/>
                </a:solidFill>
                <a:latin typeface="Arial"/>
                <a:ea typeface="Arial"/>
                <a:cs typeface="Arial"/>
              </a:defRPr>
            </a:lvl8pPr>
            <a:lvl9pPr>
              <a:defRPr sz="2025" b="0">
                <a:solidFill>
                  <a:srgbClr val="182C49"/>
                </a:solidFill>
                <a:latin typeface="Arial"/>
                <a:ea typeface="Arial"/>
                <a:cs typeface="Arial"/>
              </a:defRPr>
            </a:lvl9pPr>
          </a:lstStyle>
          <a:p xmlns:a="http://schemas.openxmlformats.org/drawingml/2006/main">
            <a:pPr>
              <a:defRPr sz="2025" b="0">
                <a:solidFill>
                  <a:srgbClr val="182C49"/>
                </a:solidFill>
                <a:latin typeface="Arial"/>
                <a:ea typeface="Arial"/>
                <a:cs typeface="Arial"/>
              </a:defRPr>
            </a:pPr>
            <a:r>
              <a:rPr sz="2025" b="0">
                <a:solidFill>
                  <a:srgbClr val="182C49"/>
                </a:solidFill>
                <a:latin typeface="Arial"/>
                <a:ea typeface="Arial"/>
                <a:cs typeface="Arial"/>
              </a:rPr>
              <a:t>Une ressource abondante, avec des labels potentiellement bruités.</a:t>
            </a:r>
          </a:p>
        </p:txBody>
      </p:sp>
    </p:spTree>
    <p:extLst>
      <p:ext uri="{BB962C8B-B14F-4D97-AF65-F5344CB8AC3E}">
        <p14:creationId xmlns:p14="http://schemas.microsoft.com/office/powerpoint/2010/main" val="14501954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1739C8-DBE5-41DA-AC7B-994EAB7ED9FF}"/>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Veille sur SetFit</a:t>
            </a:r>
          </a:p>
        </p:txBody>
      </p:sp>
      <p:sp>
        <p:nvSpPr>
          <p:cNvPr id="2" name="">
            <a:extLst xmlns:a="http://schemas.openxmlformats.org/drawingml/2006/main">
              <a:ext uri="{FF2B5EF4-FFF2-40B4-BE49-F238E27FC236}">
                <a16:creationId xmlns:a16="http://schemas.microsoft.com/office/drawing/2014/main" id="{F3BD00C4-8341-47D2-9980-4565C9115F86}"/>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4213F226-4EE1-4F10-99E6-5D85225D9ABF}"/>
              </a:ext>
            </a:extLst>
          </p:cNvPr>
          <p:cNvSpPr>
            <a:spLocks xmlns:a="http://schemas.openxmlformats.org/drawingml/2006/main" noGrp="1"/>
          </p:cNvSpPr>
          <p:nvPr/>
        </p:nvSpPr>
        <p:spPr>
          <a:xfrm xmlns:a="http://schemas.openxmlformats.org/drawingml/2006/main">
            <a:off x="781050" y="17145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Article SetFit, 2022 : la méthode de référence.</a:t>
            </a:r>
          </a:p>
        </p:txBody>
      </p:sp>
      <p:sp>
        <p:nvSpPr>
          <p:cNvPr id="4" name="">
            <a:extLst xmlns:a="http://schemas.openxmlformats.org/drawingml/2006/main">
              <a:ext uri="{FF2B5EF4-FFF2-40B4-BE49-F238E27FC236}">
                <a16:creationId xmlns:a16="http://schemas.microsoft.com/office/drawing/2014/main" id="{C3301B7D-4630-4305-B3EA-99A2CE796949}"/>
              </a:ext>
            </a:extLst>
          </p:cNvPr>
          <p:cNvSpPr>
            <a:spLocks xmlns:a="http://schemas.openxmlformats.org/drawingml/2006/main" noGrp="1"/>
          </p:cNvSpPr>
          <p:nvPr/>
        </p:nvSpPr>
        <p:spPr>
          <a:xfrm xmlns:a="http://schemas.openxmlformats.org/drawingml/2006/main">
            <a:off x="781050" y="27622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Blog SetFit, 2022 : explication et exemple de code avec MPNet.</a:t>
            </a:r>
          </a:p>
        </p:txBody>
      </p:sp>
      <p:sp>
        <p:nvSpPr>
          <p:cNvPr id="5" name="">
            <a:extLst xmlns:a="http://schemas.openxmlformats.org/drawingml/2006/main">
              <a:ext uri="{FF2B5EF4-FFF2-40B4-BE49-F238E27FC236}">
                <a16:creationId xmlns:a16="http://schemas.microsoft.com/office/drawing/2014/main" id="{C9A59DD2-CD99-4C1C-A829-696FCAD2EF65}"/>
              </a:ext>
            </a:extLst>
          </p:cNvPr>
          <p:cNvSpPr>
            <a:spLocks xmlns:a="http://schemas.openxmlformats.org/drawingml/2006/main" noGrp="1"/>
          </p:cNvSpPr>
          <p:nvPr/>
        </p:nvSpPr>
        <p:spPr>
          <a:xfrm xmlns:a="http://schemas.openxmlformats.org/drawingml/2006/main">
            <a:off x="781050" y="38100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Blog SetFitABSA, 2023 : adaptation au sentiment par aspect.</a:t>
            </a:r>
          </a:p>
        </p:txBody>
      </p:sp>
      <p:sp>
        <p:nvSpPr>
          <p:cNvPr id="6" name="">
            <a:extLst xmlns:a="http://schemas.openxmlformats.org/drawingml/2006/main">
              <a:ext uri="{FF2B5EF4-FFF2-40B4-BE49-F238E27FC236}">
                <a16:creationId xmlns:a16="http://schemas.microsoft.com/office/drawing/2014/main" id="{375F8341-ABC2-4CAF-8F9F-DFAB2CB9B99C}"/>
              </a:ext>
            </a:extLst>
          </p:cNvPr>
          <p:cNvSpPr>
            <a:spLocks xmlns:a="http://schemas.openxmlformats.org/drawingml/2006/main" noGrp="1"/>
          </p:cNvSpPr>
          <p:nvPr/>
        </p:nvSpPr>
        <p:spPr>
          <a:xfrm xmlns:a="http://schemas.openxmlformats.org/drawingml/2006/main">
            <a:off x="781050" y="48577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Notre application : sentiment global de tweets avec peu de données.</a:t>
            </a:r>
          </a:p>
        </p:txBody>
      </p:sp>
    </p:spTree>
    <p:extLst>
      <p:ext uri="{BB962C8B-B14F-4D97-AF65-F5344CB8AC3E}">
        <p14:creationId xmlns:p14="http://schemas.microsoft.com/office/powerpoint/2010/main" val="4140580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A5E538-1488-43B3-96B2-4D8A636EA30B}"/>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Plan de comparaison</a:t>
            </a:r>
          </a:p>
        </p:txBody>
      </p:sp>
      <p:sp>
        <p:nvSpPr>
          <p:cNvPr id="2" name="">
            <a:extLst xmlns:a="http://schemas.openxmlformats.org/drawingml/2006/main">
              <a:ext uri="{FF2B5EF4-FFF2-40B4-BE49-F238E27FC236}">
                <a16:creationId xmlns:a16="http://schemas.microsoft.com/office/drawing/2014/main" id="{2CAA0D10-97EB-4713-8E18-E66CE8B364C5}"/>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5</a:t>
            </a:r>
          </a:p>
        </p:txBody>
      </p:sp>
      <p:graphicFrame>
        <p:nvGraphicFramePr>
          <p:cNvPr id="3" name="">
            <a:extLst xmlns:a="http://schemas.openxmlformats.org/drawingml/2006/main">
              <a:ext uri="{FF2B5EF4-FFF2-40B4-BE49-F238E27FC236}">
                <a16:creationId xmlns:a16="http://schemas.microsoft.com/office/drawing/2014/main" id="{E906AFC5-85D1-419E-A517-F29A813B9E88}"/>
              </a:ext>
            </a:extLst>
          </p:cNvPr>
          <p:cNvGraphicFramePr/>
          <p:nvPr/>
        </p:nvGraphicFramePr>
        <p:xfrm>
          <a:off xmlns:a="http://schemas.openxmlformats.org/drawingml/2006/main" x="762000" y="1714500"/>
          <a:ext xmlns:a="http://schemas.openxmlformats.org/drawingml/2006/main" cx="10668000" cy="3619500"/>
        </p:xfrm>
        <a:graphic xmlns:a="http://schemas.openxmlformats.org/drawingml/2006/main">
          <a:graphicData uri="http://schemas.openxmlformats.org/drawingml/2006/table">
            <a:tbl>
              <a:tblPr/>
              <a:tblGrid>
                <a:gridCol w="3524250"/>
                <a:gridCol w="3571875"/>
                <a:gridCol w="3571875"/>
              </a:tblGrid>
              <a:tr h="723900">
                <a:tc>
                  <a:txBody>
                    <a:bodyPr/>
                    <a:lstStyle/>
                    <a:p>
                      <a:r>
                        <a:rPr sz="1875" b="1">
                          <a:solidFill>
                            <a:srgbClr val="182C49"/>
                          </a:solidFill>
                          <a:latin typeface="Arial"/>
                          <a:ea typeface="Arial"/>
                          <a:cs typeface="Arial"/>
                        </a:rPr>
                        <a:t>Étape</a:t>
                      </a:r>
                    </a:p>
                  </a:txBody>
                  <a:tcPr marL="114300" marR="114300" marT="114300" marB="114300">
                    <a:lnL w="9525">
                      <a:solidFill>
                        <a:srgbClr val="D6DCE4"/>
                      </a:solidFill>
                      <a:prstDash val="solid"/>
                    </a:lnL>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BiLSTM</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SetFit</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r>
              <a:tr h="723900">
                <a:tc>
                  <a:txBody>
                    <a:bodyPr/>
                    <a:lstStyle/>
                    <a:p>
                      <a:r>
                        <a:rPr sz="1875">
                          <a:solidFill>
                            <a:srgbClr val="182C49"/>
                          </a:solidFill>
                          <a:latin typeface="Arial"/>
                          <a:ea typeface="Arial"/>
                          <a:cs typeface="Arial"/>
                        </a:rPr>
                        <a:t>Train utilisé</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300 000 tweets</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1 024 tweets</a:t>
                      </a:r>
                    </a:p>
                  </a:txBody>
                  <a:tcPr marL="114300" marR="114300" marT="114300" marB="114300">
                    <a:lnR w="9525">
                      <a:solidFill>
                        <a:srgbClr val="D6DCE4"/>
                      </a:solidFill>
                      <a:prstDash val="solid"/>
                    </a:lnR>
                    <a:lnB w="9525">
                      <a:solidFill>
                        <a:srgbClr val="D6DCE4"/>
                      </a:solidFill>
                      <a:prstDash val="solid"/>
                    </a:lnB>
                  </a:tcPr>
                </a:tc>
              </a:tr>
              <a:tr h="723900">
                <a:tc>
                  <a:txBody>
                    <a:bodyPr/>
                    <a:lstStyle/>
                    <a:p>
                      <a:r>
                        <a:rPr sz="1875">
                          <a:solidFill>
                            <a:srgbClr val="182C49"/>
                          </a:solidFill>
                          <a:latin typeface="Arial"/>
                          <a:ea typeface="Arial"/>
                          <a:cs typeface="Arial"/>
                        </a:rPr>
                        <a:t>Validation utilisée</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25 000 tweets</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2 000 tweets</a:t>
                      </a:r>
                    </a:p>
                  </a:txBody>
                  <a:tcPr marL="114300" marR="114300" marT="114300" marB="114300">
                    <a:lnR w="9525">
                      <a:solidFill>
                        <a:srgbClr val="D6DCE4"/>
                      </a:solidFill>
                      <a:prstDash val="solid"/>
                    </a:lnR>
                    <a:lnB w="9525">
                      <a:solidFill>
                        <a:srgbClr val="D6DCE4"/>
                      </a:solidFill>
                      <a:prstDash val="solid"/>
                    </a:lnB>
                  </a:tcPr>
                </a:tc>
              </a:tr>
              <a:tr h="723900">
                <a:tc>
                  <a:txBody>
                    <a:bodyPr/>
                    <a:lstStyle/>
                    <a:p>
                      <a:r>
                        <a:rPr sz="1875">
                          <a:solidFill>
                            <a:srgbClr val="182C49"/>
                          </a:solidFill>
                          <a:latin typeface="Arial"/>
                          <a:ea typeface="Arial"/>
                          <a:cs typeface="Arial"/>
                        </a:rPr>
                        <a:t>Test corrigé commun</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47 512 tweets</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47 512 tweets</a:t>
                      </a:r>
                    </a:p>
                  </a:txBody>
                  <a:tcPr marL="114300" marR="114300" marT="114300" marB="114300">
                    <a:lnR w="9525">
                      <a:solidFill>
                        <a:srgbClr val="D6DCE4"/>
                      </a:solidFill>
                      <a:prstDash val="solid"/>
                    </a:lnR>
                    <a:lnB w="9525">
                      <a:solidFill>
                        <a:srgbClr val="D6DCE4"/>
                      </a:solidFill>
                      <a:prstDash val="solid"/>
                    </a:lnB>
                  </a:tcPr>
                </a:tc>
              </a:tr>
              <a:tr h="723900">
                <a:tc>
                  <a:txBody>
                    <a:bodyPr/>
                    <a:lstStyle/>
                    <a:p>
                      <a:r>
                        <a:rPr sz="1875">
                          <a:solidFill>
                            <a:srgbClr val="182C49"/>
                          </a:solidFill>
                          <a:latin typeface="Arial"/>
                          <a:ea typeface="Arial"/>
                          <a:cs typeface="Arial"/>
                        </a:rPr>
                        <a:t>Critère principal</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F1 macro</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F1 macro</a:t>
                      </a:r>
                    </a:p>
                  </a:txBody>
                  <a:tcPr marL="114300" marR="114300" marT="114300" marB="114300">
                    <a:lnR w="9525">
                      <a:solidFill>
                        <a:srgbClr val="D6DCE4"/>
                      </a:solidFill>
                      <a:prstDash val="solid"/>
                    </a:lnR>
                    <a:lnB w="9525">
                      <a:solidFill>
                        <a:srgbClr val="D6DCE4"/>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034876E6-A4A3-4F7B-AC69-81C8B30C9E32}"/>
              </a:ext>
            </a:extLst>
          </p:cNvPr>
          <p:cNvSpPr>
            <a:spLocks xmlns:a="http://schemas.openxmlformats.org/drawingml/2006/main" noGrp="1"/>
          </p:cNvSpPr>
          <p:nvPr/>
        </p:nvSpPr>
        <p:spPr>
          <a:xfrm xmlns:a="http://schemas.openxmlformats.org/drawingml/2006/main">
            <a:off x="781050" y="56197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Même test et même ordre des observations. Graine 42.</a:t>
            </a:r>
          </a:p>
        </p:txBody>
      </p:sp>
    </p:spTree>
    <p:extLst>
      <p:ext uri="{BB962C8B-B14F-4D97-AF65-F5344CB8AC3E}">
        <p14:creationId xmlns:p14="http://schemas.microsoft.com/office/powerpoint/2010/main" val="3778323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E4F7FA-FE2B-4345-B4ED-D9832D8C353A}"/>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Contrôle des doublons</a:t>
            </a:r>
          </a:p>
        </p:txBody>
      </p:sp>
      <p:sp>
        <p:nvSpPr>
          <p:cNvPr id="2" name="">
            <a:extLst xmlns:a="http://schemas.openxmlformats.org/drawingml/2006/main">
              <a:ext uri="{FF2B5EF4-FFF2-40B4-BE49-F238E27FC236}">
                <a16:creationId xmlns:a16="http://schemas.microsoft.com/office/drawing/2014/main" id="{662AC3DE-4496-4CE0-91FF-BD0580A8A6B5}"/>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0C7D029B-C0EC-48C8-A5A3-D1E6163A539C}"/>
              </a:ext>
            </a:extLst>
          </p:cNvPr>
          <p:cNvSpPr>
            <a:spLocks xmlns:a="http://schemas.openxmlformats.org/drawingml/2006/main" noGrp="1"/>
          </p:cNvSpPr>
          <p:nvPr/>
        </p:nvSpPr>
        <p:spPr>
          <a:xfrm xmlns:a="http://schemas.openxmlformats.org/drawingml/2006/main">
            <a:off x="781050" y="1762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C49"/>
                </a:solidFill>
                <a:latin typeface="Arial"/>
                <a:ea typeface="Arial"/>
                <a:cs typeface="Arial"/>
              </a:defRPr>
            </a:defPPr>
            <a:lvl1pPr>
              <a:defRPr sz="3150" b="1">
                <a:solidFill>
                  <a:srgbClr val="182C49"/>
                </a:solidFill>
                <a:latin typeface="Arial"/>
                <a:ea typeface="Arial"/>
                <a:cs typeface="Arial"/>
              </a:defRPr>
            </a:lvl1pPr>
            <a:lvl2pPr>
              <a:defRPr sz="3150" b="1">
                <a:solidFill>
                  <a:srgbClr val="182C49"/>
                </a:solidFill>
                <a:latin typeface="Arial"/>
                <a:ea typeface="Arial"/>
                <a:cs typeface="Arial"/>
              </a:defRPr>
            </a:lvl2pPr>
            <a:lvl3pPr>
              <a:defRPr sz="3150" b="1">
                <a:solidFill>
                  <a:srgbClr val="182C49"/>
                </a:solidFill>
                <a:latin typeface="Arial"/>
                <a:ea typeface="Arial"/>
                <a:cs typeface="Arial"/>
              </a:defRPr>
            </a:lvl3pPr>
            <a:lvl4pPr>
              <a:defRPr sz="3150" b="1">
                <a:solidFill>
                  <a:srgbClr val="182C49"/>
                </a:solidFill>
                <a:latin typeface="Arial"/>
                <a:ea typeface="Arial"/>
                <a:cs typeface="Arial"/>
              </a:defRPr>
            </a:lvl4pPr>
            <a:lvl5pPr>
              <a:defRPr sz="3150" b="1">
                <a:solidFill>
                  <a:srgbClr val="182C49"/>
                </a:solidFill>
                <a:latin typeface="Arial"/>
                <a:ea typeface="Arial"/>
                <a:cs typeface="Arial"/>
              </a:defRPr>
            </a:lvl5pPr>
            <a:lvl6pPr>
              <a:defRPr sz="3150" b="1">
                <a:solidFill>
                  <a:srgbClr val="182C49"/>
                </a:solidFill>
                <a:latin typeface="Arial"/>
                <a:ea typeface="Arial"/>
                <a:cs typeface="Arial"/>
              </a:defRPr>
            </a:lvl6pPr>
            <a:lvl7pPr>
              <a:defRPr sz="3150" b="1">
                <a:solidFill>
                  <a:srgbClr val="182C49"/>
                </a:solidFill>
                <a:latin typeface="Arial"/>
                <a:ea typeface="Arial"/>
                <a:cs typeface="Arial"/>
              </a:defRPr>
            </a:lvl7pPr>
            <a:lvl8pPr>
              <a:defRPr sz="3150" b="1">
                <a:solidFill>
                  <a:srgbClr val="182C49"/>
                </a:solidFill>
                <a:latin typeface="Arial"/>
                <a:ea typeface="Arial"/>
                <a:cs typeface="Arial"/>
              </a:defRPr>
            </a:lvl8pPr>
            <a:lvl9pPr>
              <a:defRPr sz="3150" b="1">
                <a:solidFill>
                  <a:srgbClr val="182C49"/>
                </a:solidFill>
                <a:latin typeface="Arial"/>
                <a:ea typeface="Arial"/>
                <a:cs typeface="Arial"/>
              </a:defRPr>
            </a:lvl9pPr>
          </a:lstStyle>
          <a:p xmlns:a="http://schemas.openxmlformats.org/drawingml/2006/main">
            <a:pPr>
              <a:defRPr sz="3150" b="1">
                <a:solidFill>
                  <a:srgbClr val="182C49"/>
                </a:solidFill>
                <a:latin typeface="Arial"/>
                <a:ea typeface="Arial"/>
                <a:cs typeface="Arial"/>
              </a:defRPr>
            </a:pPr>
            <a:r>
              <a:rPr sz="3150" b="1">
                <a:solidFill>
                  <a:srgbClr val="182C49"/>
                </a:solidFill>
                <a:latin typeface="Arial"/>
                <a:ea typeface="Arial"/>
                <a:cs typeface="Arial"/>
              </a:rPr>
              <a:t>50 000 tweets au départ</a:t>
            </a:r>
          </a:p>
        </p:txBody>
      </p:sp>
      <p:sp>
        <p:nvSpPr>
          <p:cNvPr id="4" name="">
            <a:extLst xmlns:a="http://schemas.openxmlformats.org/drawingml/2006/main">
              <a:ext uri="{FF2B5EF4-FFF2-40B4-BE49-F238E27FC236}">
                <a16:creationId xmlns:a16="http://schemas.microsoft.com/office/drawing/2014/main" id="{520F911F-1808-4741-918F-9E0CD27BC8EC}"/>
              </a:ext>
            </a:extLst>
          </p:cNvPr>
          <p:cNvSpPr>
            <a:spLocks xmlns:a="http://schemas.openxmlformats.org/drawingml/2006/main" noGrp="1"/>
          </p:cNvSpPr>
          <p:nvPr/>
        </p:nvSpPr>
        <p:spPr>
          <a:xfrm xmlns:a="http://schemas.openxmlformats.org/drawingml/2006/main">
            <a:off x="781050" y="2809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C49"/>
                </a:solidFill>
                <a:latin typeface="Arial"/>
                <a:ea typeface="Arial"/>
                <a:cs typeface="Arial"/>
              </a:defRPr>
            </a:defPPr>
            <a:lvl1pPr>
              <a:defRPr sz="3150" b="1">
                <a:solidFill>
                  <a:srgbClr val="182C49"/>
                </a:solidFill>
                <a:latin typeface="Arial"/>
                <a:ea typeface="Arial"/>
                <a:cs typeface="Arial"/>
              </a:defRPr>
            </a:lvl1pPr>
            <a:lvl2pPr>
              <a:defRPr sz="3150" b="1">
                <a:solidFill>
                  <a:srgbClr val="182C49"/>
                </a:solidFill>
                <a:latin typeface="Arial"/>
                <a:ea typeface="Arial"/>
                <a:cs typeface="Arial"/>
              </a:defRPr>
            </a:lvl2pPr>
            <a:lvl3pPr>
              <a:defRPr sz="3150" b="1">
                <a:solidFill>
                  <a:srgbClr val="182C49"/>
                </a:solidFill>
                <a:latin typeface="Arial"/>
                <a:ea typeface="Arial"/>
                <a:cs typeface="Arial"/>
              </a:defRPr>
            </a:lvl3pPr>
            <a:lvl4pPr>
              <a:defRPr sz="3150" b="1">
                <a:solidFill>
                  <a:srgbClr val="182C49"/>
                </a:solidFill>
                <a:latin typeface="Arial"/>
                <a:ea typeface="Arial"/>
                <a:cs typeface="Arial"/>
              </a:defRPr>
            </a:lvl4pPr>
            <a:lvl5pPr>
              <a:defRPr sz="3150" b="1">
                <a:solidFill>
                  <a:srgbClr val="182C49"/>
                </a:solidFill>
                <a:latin typeface="Arial"/>
                <a:ea typeface="Arial"/>
                <a:cs typeface="Arial"/>
              </a:defRPr>
            </a:lvl5pPr>
            <a:lvl6pPr>
              <a:defRPr sz="3150" b="1">
                <a:solidFill>
                  <a:srgbClr val="182C49"/>
                </a:solidFill>
                <a:latin typeface="Arial"/>
                <a:ea typeface="Arial"/>
                <a:cs typeface="Arial"/>
              </a:defRPr>
            </a:lvl6pPr>
            <a:lvl7pPr>
              <a:defRPr sz="3150" b="1">
                <a:solidFill>
                  <a:srgbClr val="182C49"/>
                </a:solidFill>
                <a:latin typeface="Arial"/>
                <a:ea typeface="Arial"/>
                <a:cs typeface="Arial"/>
              </a:defRPr>
            </a:lvl7pPr>
            <a:lvl8pPr>
              <a:defRPr sz="3150" b="1">
                <a:solidFill>
                  <a:srgbClr val="182C49"/>
                </a:solidFill>
                <a:latin typeface="Arial"/>
                <a:ea typeface="Arial"/>
                <a:cs typeface="Arial"/>
              </a:defRPr>
            </a:lvl8pPr>
            <a:lvl9pPr>
              <a:defRPr sz="3150" b="1">
                <a:solidFill>
                  <a:srgbClr val="182C49"/>
                </a:solidFill>
                <a:latin typeface="Arial"/>
                <a:ea typeface="Arial"/>
                <a:cs typeface="Arial"/>
              </a:defRPr>
            </a:lvl9pPr>
          </a:lstStyle>
          <a:p xmlns:a="http://schemas.openxmlformats.org/drawingml/2006/main">
            <a:pPr>
              <a:defRPr sz="3150" b="1">
                <a:solidFill>
                  <a:srgbClr val="182C49"/>
                </a:solidFill>
                <a:latin typeface="Arial"/>
                <a:ea typeface="Arial"/>
                <a:cs typeface="Arial"/>
              </a:defRPr>
            </a:pPr>
            <a:r>
              <a:rPr sz="3150" b="1">
                <a:solidFill>
                  <a:srgbClr val="182C49"/>
                </a:solidFill>
                <a:latin typeface="Arial"/>
                <a:ea typeface="Arial"/>
                <a:cs typeface="Arial"/>
              </a:rPr>
              <a:t>2 488 lignes retirées</a:t>
            </a:r>
          </a:p>
        </p:txBody>
      </p:sp>
      <p:sp>
        <p:nvSpPr>
          <p:cNvPr id="5" name="">
            <a:extLst xmlns:a="http://schemas.openxmlformats.org/drawingml/2006/main">
              <a:ext uri="{FF2B5EF4-FFF2-40B4-BE49-F238E27FC236}">
                <a16:creationId xmlns:a16="http://schemas.microsoft.com/office/drawing/2014/main" id="{E04B542A-0916-45DB-9F7D-A04C92929DA0}"/>
              </a:ext>
            </a:extLst>
          </p:cNvPr>
          <p:cNvSpPr>
            <a:spLocks xmlns:a="http://schemas.openxmlformats.org/drawingml/2006/main" noGrp="1"/>
          </p:cNvSpPr>
          <p:nvPr/>
        </p:nvSpPr>
        <p:spPr>
          <a:xfrm xmlns:a="http://schemas.openxmlformats.org/drawingml/2006/main">
            <a:off x="781050" y="38576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C49"/>
                </a:solidFill>
                <a:latin typeface="Arial"/>
                <a:ea typeface="Arial"/>
                <a:cs typeface="Arial"/>
              </a:defRPr>
            </a:defPPr>
            <a:lvl1pPr>
              <a:defRPr sz="3150" b="1">
                <a:solidFill>
                  <a:srgbClr val="182C49"/>
                </a:solidFill>
                <a:latin typeface="Arial"/>
                <a:ea typeface="Arial"/>
                <a:cs typeface="Arial"/>
              </a:defRPr>
            </a:lvl1pPr>
            <a:lvl2pPr>
              <a:defRPr sz="3150" b="1">
                <a:solidFill>
                  <a:srgbClr val="182C49"/>
                </a:solidFill>
                <a:latin typeface="Arial"/>
                <a:ea typeface="Arial"/>
                <a:cs typeface="Arial"/>
              </a:defRPr>
            </a:lvl2pPr>
            <a:lvl3pPr>
              <a:defRPr sz="3150" b="1">
                <a:solidFill>
                  <a:srgbClr val="182C49"/>
                </a:solidFill>
                <a:latin typeface="Arial"/>
                <a:ea typeface="Arial"/>
                <a:cs typeface="Arial"/>
              </a:defRPr>
            </a:lvl3pPr>
            <a:lvl4pPr>
              <a:defRPr sz="3150" b="1">
                <a:solidFill>
                  <a:srgbClr val="182C49"/>
                </a:solidFill>
                <a:latin typeface="Arial"/>
                <a:ea typeface="Arial"/>
                <a:cs typeface="Arial"/>
              </a:defRPr>
            </a:lvl4pPr>
            <a:lvl5pPr>
              <a:defRPr sz="3150" b="1">
                <a:solidFill>
                  <a:srgbClr val="182C49"/>
                </a:solidFill>
                <a:latin typeface="Arial"/>
                <a:ea typeface="Arial"/>
                <a:cs typeface="Arial"/>
              </a:defRPr>
            </a:lvl5pPr>
            <a:lvl6pPr>
              <a:defRPr sz="3150" b="1">
                <a:solidFill>
                  <a:srgbClr val="182C49"/>
                </a:solidFill>
                <a:latin typeface="Arial"/>
                <a:ea typeface="Arial"/>
                <a:cs typeface="Arial"/>
              </a:defRPr>
            </a:lvl6pPr>
            <a:lvl7pPr>
              <a:defRPr sz="3150" b="1">
                <a:solidFill>
                  <a:srgbClr val="182C49"/>
                </a:solidFill>
                <a:latin typeface="Arial"/>
                <a:ea typeface="Arial"/>
                <a:cs typeface="Arial"/>
              </a:defRPr>
            </a:lvl7pPr>
            <a:lvl8pPr>
              <a:defRPr sz="3150" b="1">
                <a:solidFill>
                  <a:srgbClr val="182C49"/>
                </a:solidFill>
                <a:latin typeface="Arial"/>
                <a:ea typeface="Arial"/>
                <a:cs typeface="Arial"/>
              </a:defRPr>
            </a:lvl8pPr>
            <a:lvl9pPr>
              <a:defRPr sz="3150" b="1">
                <a:solidFill>
                  <a:srgbClr val="182C49"/>
                </a:solidFill>
                <a:latin typeface="Arial"/>
                <a:ea typeface="Arial"/>
                <a:cs typeface="Arial"/>
              </a:defRPr>
            </a:lvl9pPr>
          </a:lstStyle>
          <a:p xmlns:a="http://schemas.openxmlformats.org/drawingml/2006/main">
            <a:pPr>
              <a:defRPr sz="3150" b="1">
                <a:solidFill>
                  <a:srgbClr val="182C49"/>
                </a:solidFill>
                <a:latin typeface="Arial"/>
                <a:ea typeface="Arial"/>
                <a:cs typeface="Arial"/>
              </a:defRPr>
            </a:pPr>
            <a:r>
              <a:rPr sz="3150" b="1">
                <a:solidFill>
                  <a:srgbClr val="182C49"/>
                </a:solidFill>
                <a:latin typeface="Arial"/>
                <a:ea typeface="Arial"/>
                <a:cs typeface="Arial"/>
              </a:rPr>
              <a:t>47 512 tweets dans le test corrigé</a:t>
            </a:r>
          </a:p>
        </p:txBody>
      </p:sp>
      <p:sp>
        <p:nvSpPr>
          <p:cNvPr id="6" name="">
            <a:extLst xmlns:a="http://schemas.openxmlformats.org/drawingml/2006/main">
              <a:ext uri="{FF2B5EF4-FFF2-40B4-BE49-F238E27FC236}">
                <a16:creationId xmlns:a16="http://schemas.microsoft.com/office/drawing/2014/main" id="{E800910F-4B78-43BC-BCD6-E22AF940CA23}"/>
              </a:ext>
            </a:extLst>
          </p:cNvPr>
          <p:cNvSpPr>
            <a:spLocks xmlns:a="http://schemas.openxmlformats.org/drawingml/2006/main" noGrp="1"/>
          </p:cNvSpPr>
          <p:nvPr/>
        </p:nvSpPr>
        <p:spPr>
          <a:xfrm xmlns:a="http://schemas.openxmlformats.org/drawingml/2006/main">
            <a:off x="781050" y="5143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Exclusion des chevauchements avec le train et la validation,</a:t>
            </a:r>
          </a:p>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des textes vides et des répétitions après nettoyage.</a:t>
            </a:r>
          </a:p>
        </p:txBody>
      </p:sp>
    </p:spTree>
    <p:extLst>
      <p:ext uri="{BB962C8B-B14F-4D97-AF65-F5344CB8AC3E}">
        <p14:creationId xmlns:p14="http://schemas.microsoft.com/office/powerpoint/2010/main" val="20224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7A81C7-F49E-4161-98BD-C5E46ED2A8BA}"/>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La baseline BiLSTM avec GloVe</a:t>
            </a:r>
          </a:p>
        </p:txBody>
      </p:sp>
      <p:sp>
        <p:nvSpPr>
          <p:cNvPr id="2" name="">
            <a:extLst xmlns:a="http://schemas.openxmlformats.org/drawingml/2006/main">
              <a:ext uri="{FF2B5EF4-FFF2-40B4-BE49-F238E27FC236}">
                <a16:creationId xmlns:a16="http://schemas.microsoft.com/office/drawing/2014/main" id="{63157395-3E49-4B22-BC88-153D401ED7D4}"/>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89CF877C-6B5E-4DB0-B6D5-203CA42AF9A3}"/>
              </a:ext>
            </a:extLst>
          </p:cNvPr>
          <p:cNvSpPr>
            <a:spLocks xmlns:a="http://schemas.openxmlformats.org/drawingml/2006/main" noGrp="1"/>
          </p:cNvSpPr>
          <p:nvPr/>
        </p:nvSpPr>
        <p:spPr>
          <a:xfrm xmlns:a="http://schemas.openxmlformats.org/drawingml/2006/main">
            <a:off x="781050" y="17145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Vocabulaire de 30 000 tokens construit sur le train uniquement.</a:t>
            </a:r>
          </a:p>
        </p:txBody>
      </p:sp>
      <p:sp>
        <p:nvSpPr>
          <p:cNvPr id="4" name="">
            <a:extLst xmlns:a="http://schemas.openxmlformats.org/drawingml/2006/main">
              <a:ext uri="{FF2B5EF4-FFF2-40B4-BE49-F238E27FC236}">
                <a16:creationId xmlns:a16="http://schemas.microsoft.com/office/drawing/2014/main" id="{DD2F10FA-5C71-42A4-A853-F4082282848A}"/>
              </a:ext>
            </a:extLst>
          </p:cNvPr>
          <p:cNvSpPr>
            <a:spLocks xmlns:a="http://schemas.openxmlformats.org/drawingml/2006/main" noGrp="1"/>
          </p:cNvSpPr>
          <p:nvPr/>
        </p:nvSpPr>
        <p:spPr>
          <a:xfrm xmlns:a="http://schemas.openxmlformats.org/drawingml/2006/main">
            <a:off x="781050" y="27622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GloVe Twitter : 200 dimensions. Séquences de 40 tokens.</a:t>
            </a:r>
          </a:p>
        </p:txBody>
      </p:sp>
      <p:sp>
        <p:nvSpPr>
          <p:cNvPr id="5" name="">
            <a:extLst xmlns:a="http://schemas.openxmlformats.org/drawingml/2006/main">
              <a:ext uri="{FF2B5EF4-FFF2-40B4-BE49-F238E27FC236}">
                <a16:creationId xmlns:a16="http://schemas.microsoft.com/office/drawing/2014/main" id="{EC318E7A-BE51-40FF-A7DE-B0DDC77F2D5D}"/>
              </a:ext>
            </a:extLst>
          </p:cNvPr>
          <p:cNvSpPr>
            <a:spLocks xmlns:a="http://schemas.openxmlformats.org/drawingml/2006/main" noGrp="1"/>
          </p:cNvSpPr>
          <p:nvPr/>
        </p:nvSpPr>
        <p:spPr>
          <a:xfrm xmlns:a="http://schemas.openxmlformats.org/drawingml/2006/main">
            <a:off x="781050" y="38100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LSTM bidirectionnel : 128 unités par direction, dropout de 0,3.</a:t>
            </a:r>
          </a:p>
        </p:txBody>
      </p:sp>
      <p:sp>
        <p:nvSpPr>
          <p:cNvPr id="6" name="">
            <a:extLst xmlns:a="http://schemas.openxmlformats.org/drawingml/2006/main">
              <a:ext uri="{FF2B5EF4-FFF2-40B4-BE49-F238E27FC236}">
                <a16:creationId xmlns:a16="http://schemas.microsoft.com/office/drawing/2014/main" id="{50DCA63D-962D-4EC6-AA5E-D635FC73BC32}"/>
              </a:ext>
            </a:extLst>
          </p:cNvPr>
          <p:cNvSpPr>
            <a:spLocks xmlns:a="http://schemas.openxmlformats.org/drawingml/2006/main" noGrp="1"/>
          </p:cNvSpPr>
          <p:nvPr/>
        </p:nvSpPr>
        <p:spPr>
          <a:xfrm xmlns:a="http://schemas.openxmlformats.org/drawingml/2006/main">
            <a:off x="781050" y="48577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Adam et arrêt anticipé selon le F1 macro de validation.</a:t>
            </a:r>
          </a:p>
        </p:txBody>
      </p:sp>
    </p:spTree>
    <p:extLst>
      <p:ext uri="{BB962C8B-B14F-4D97-AF65-F5344CB8AC3E}">
        <p14:creationId xmlns:p14="http://schemas.microsoft.com/office/powerpoint/2010/main" val="7944026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95ABF0-0909-4FA0-A4AD-74C995760EF1}"/>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Le fonctionnement de SetFit</a:t>
            </a:r>
          </a:p>
        </p:txBody>
      </p:sp>
      <p:sp>
        <p:nvSpPr>
          <p:cNvPr id="2" name="">
            <a:extLst xmlns:a="http://schemas.openxmlformats.org/drawingml/2006/main">
              <a:ext uri="{FF2B5EF4-FFF2-40B4-BE49-F238E27FC236}">
                <a16:creationId xmlns:a16="http://schemas.microsoft.com/office/drawing/2014/main" id="{7F5F0BB8-0FF9-47BB-B545-1D3AA553983A}"/>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594B9D7A-8A09-4407-B865-11B183355183}"/>
              </a:ext>
            </a:extLst>
          </p:cNvPr>
          <p:cNvSpPr>
            <a:spLocks xmlns:a="http://schemas.openxmlformats.org/drawingml/2006/main" noGrp="1"/>
          </p:cNvSpPr>
          <p:nvPr/>
        </p:nvSpPr>
        <p:spPr>
          <a:xfrm xmlns:a="http://schemas.openxmlformats.org/drawingml/2006/main">
            <a:off x="781050" y="1666875"/>
            <a:ext cx="1057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1. MPNet encode chaque tweet en un vecteur de 768 dimensions.</a:t>
            </a:r>
          </a:p>
        </p:txBody>
      </p:sp>
      <p:sp>
        <p:nvSpPr>
          <p:cNvPr id="4" name="">
            <a:extLst xmlns:a="http://schemas.openxmlformats.org/drawingml/2006/main">
              <a:ext uri="{FF2B5EF4-FFF2-40B4-BE49-F238E27FC236}">
                <a16:creationId xmlns:a16="http://schemas.microsoft.com/office/drawing/2014/main" id="{F1FC2913-3B47-4D2D-A3C9-05147A1141A6}"/>
              </a:ext>
            </a:extLst>
          </p:cNvPr>
          <p:cNvSpPr>
            <a:spLocks xmlns:a="http://schemas.openxmlformats.org/drawingml/2006/main" noGrp="1"/>
          </p:cNvSpPr>
          <p:nvPr/>
        </p:nvSpPr>
        <p:spPr>
          <a:xfrm xmlns:a="http://schemas.openxmlformats.org/drawingml/2006/main">
            <a:off x="781050" y="2762250"/>
            <a:ext cx="1057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2. Des paires de même classe ou de classes différentes</a:t>
            </a:r>
          </a:p>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adaptent l’encodeur par apprentissage contrastif.</a:t>
            </a:r>
          </a:p>
        </p:txBody>
      </p:sp>
      <p:sp>
        <p:nvSpPr>
          <p:cNvPr id="5" name="">
            <a:extLst xmlns:a="http://schemas.openxmlformats.org/drawingml/2006/main">
              <a:ext uri="{FF2B5EF4-FFF2-40B4-BE49-F238E27FC236}">
                <a16:creationId xmlns:a16="http://schemas.microsoft.com/office/drawing/2014/main" id="{0C52C9D4-BA50-452D-89D5-385BFD8DD6C7}"/>
              </a:ext>
            </a:extLst>
          </p:cNvPr>
          <p:cNvSpPr>
            <a:spLocks xmlns:a="http://schemas.openxmlformats.org/drawingml/2006/main" noGrp="1"/>
          </p:cNvSpPr>
          <p:nvPr/>
        </p:nvSpPr>
        <p:spPr>
          <a:xfrm xmlns:a="http://schemas.openxmlformats.org/drawingml/2006/main">
            <a:off x="781050" y="3857625"/>
            <a:ext cx="1057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3. Une régression logistique classe les embeddings adaptés.</a:t>
            </a:r>
          </a:p>
        </p:txBody>
      </p:sp>
      <p:sp>
        <p:nvSpPr>
          <p:cNvPr id="6" name="">
            <a:extLst xmlns:a="http://schemas.openxmlformats.org/drawingml/2006/main">
              <a:ext uri="{FF2B5EF4-FFF2-40B4-BE49-F238E27FC236}">
                <a16:creationId xmlns:a16="http://schemas.microsoft.com/office/drawing/2014/main" id="{F630D8FE-647A-4A63-A355-7F5134E86F7A}"/>
              </a:ext>
            </a:extLst>
          </p:cNvPr>
          <p:cNvSpPr>
            <a:spLocks xmlns:a="http://schemas.openxmlformats.org/drawingml/2006/main" noGrp="1"/>
          </p:cNvSpPr>
          <p:nvPr/>
        </p:nvSpPr>
        <p:spPr>
          <a:xfrm xmlns:a="http://schemas.openxmlformats.org/drawingml/2006/main">
            <a:off x="781050" y="4953000"/>
            <a:ext cx="1057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L’inférence encode puis classe le texte, sans prompt.</a:t>
            </a:r>
          </a:p>
        </p:txBody>
      </p:sp>
    </p:spTree>
    <p:extLst>
      <p:ext uri="{BB962C8B-B14F-4D97-AF65-F5344CB8AC3E}">
        <p14:creationId xmlns:p14="http://schemas.microsoft.com/office/powerpoint/2010/main" val="12590373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F6BE3A-5799-4689-BB44-898FFE396356}"/>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Évaluer et choisir les réglages</a:t>
            </a:r>
          </a:p>
        </p:txBody>
      </p:sp>
      <p:sp>
        <p:nvSpPr>
          <p:cNvPr id="2" name="">
            <a:extLst xmlns:a="http://schemas.openxmlformats.org/drawingml/2006/main">
              <a:ext uri="{FF2B5EF4-FFF2-40B4-BE49-F238E27FC236}">
                <a16:creationId xmlns:a16="http://schemas.microsoft.com/office/drawing/2014/main" id="{66B19C19-C60C-4C26-A46C-1A9E5661C39C}"/>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9</a:t>
            </a:r>
          </a:p>
        </p:txBody>
      </p:sp>
      <p:graphicFrame>
        <p:nvGraphicFramePr>
          <p:cNvPr id="3" name="">
            <a:extLst xmlns:a="http://schemas.openxmlformats.org/drawingml/2006/main">
              <a:ext uri="{FF2B5EF4-FFF2-40B4-BE49-F238E27FC236}">
                <a16:creationId xmlns:a16="http://schemas.microsoft.com/office/drawing/2014/main" id="{1FC81EC8-68F9-489B-B47D-403B126907D1}"/>
              </a:ext>
            </a:extLst>
          </p:cNvPr>
          <p:cNvGraphicFramePr/>
          <p:nvPr/>
        </p:nvGraphicFramePr>
        <p:xfrm>
          <a:off xmlns:a="http://schemas.openxmlformats.org/drawingml/2006/main" x="762000" y="1762125"/>
          <a:ext xmlns:a="http://schemas.openxmlformats.org/drawingml/2006/main" cx="10668000" cy="3143250"/>
        </p:xfrm>
        <a:graphic xmlns:a="http://schemas.openxmlformats.org/drawingml/2006/main">
          <a:graphicData uri="http://schemas.openxmlformats.org/drawingml/2006/table">
            <a:tbl>
              <a:tblPr/>
              <a:tblGrid>
                <a:gridCol w="2667000"/>
                <a:gridCol w="4667250"/>
                <a:gridCol w="3333750"/>
              </a:tblGrid>
              <a:tr h="785813">
                <a:tc>
                  <a:txBody>
                    <a:bodyPr/>
                    <a:lstStyle/>
                    <a:p>
                      <a:r>
                        <a:rPr sz="1875" b="1">
                          <a:solidFill>
                            <a:srgbClr val="182C49"/>
                          </a:solidFill>
                          <a:latin typeface="Arial"/>
                          <a:ea typeface="Arial"/>
                          <a:cs typeface="Arial"/>
                        </a:rPr>
                        <a:t>Élément</a:t>
                      </a:r>
                    </a:p>
                  </a:txBody>
                  <a:tcPr marL="114300" marR="114300" marT="114300" marB="114300">
                    <a:lnL w="9525">
                      <a:solidFill>
                        <a:srgbClr val="D6DCE4"/>
                      </a:solidFill>
                      <a:prstDash val="solid"/>
                    </a:lnL>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Signification</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Usage</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r>
              <a:tr h="785813">
                <a:tc>
                  <a:txBody>
                    <a:bodyPr/>
                    <a:lstStyle/>
                    <a:p>
                      <a:r>
                        <a:rPr sz="1875">
                          <a:solidFill>
                            <a:srgbClr val="182C49"/>
                          </a:solidFill>
                          <a:latin typeface="Arial"/>
                          <a:ea typeface="Arial"/>
                          <a:cs typeface="Arial"/>
                        </a:rPr>
                        <a:t>F1 macro</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Score moyen des deux sentiments</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Critère principal</a:t>
                      </a:r>
                    </a:p>
                  </a:txBody>
                  <a:tcPr marL="114300" marR="114300" marT="114300" marB="114300">
                    <a:lnR w="9525">
                      <a:solidFill>
                        <a:srgbClr val="D6DCE4"/>
                      </a:solidFill>
                      <a:prstDash val="solid"/>
                    </a:lnR>
                    <a:lnB w="9525">
                      <a:solidFill>
                        <a:srgbClr val="D6DCE4"/>
                      </a:solidFill>
                      <a:prstDash val="solid"/>
                    </a:lnB>
                  </a:tcPr>
                </a:tc>
              </a:tr>
              <a:tr h="785813">
                <a:tc>
                  <a:txBody>
                    <a:bodyPr/>
                    <a:lstStyle/>
                    <a:p>
                      <a:r>
                        <a:rPr sz="1875">
                          <a:solidFill>
                            <a:srgbClr val="182C49"/>
                          </a:solidFill>
                          <a:latin typeface="Arial"/>
                          <a:ea typeface="Arial"/>
                          <a:cs typeface="Arial"/>
                        </a:rPr>
                        <a:t>Accuracy</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Part de labels retrouvés</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Lecture complémentaire</a:t>
                      </a:r>
                    </a:p>
                  </a:txBody>
                  <a:tcPr marL="114300" marR="114300" marT="114300" marB="114300">
                    <a:lnR w="9525">
                      <a:solidFill>
                        <a:srgbClr val="D6DCE4"/>
                      </a:solidFill>
                      <a:prstDash val="solid"/>
                    </a:lnR>
                    <a:lnB w="9525">
                      <a:solidFill>
                        <a:srgbClr val="D6DCE4"/>
                      </a:solidFill>
                      <a:prstDash val="solid"/>
                    </a:lnB>
                  </a:tcPr>
                </a:tc>
              </a:tr>
              <a:tr h="785813">
                <a:tc>
                  <a:txBody>
                    <a:bodyPr/>
                    <a:lstStyle/>
                    <a:p>
                      <a:r>
                        <a:rPr sz="1875">
                          <a:solidFill>
                            <a:srgbClr val="182C49"/>
                          </a:solidFill>
                          <a:latin typeface="Arial"/>
                          <a:ea typeface="Arial"/>
                          <a:cs typeface="Arial"/>
                        </a:rPr>
                        <a:t>Validation</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Suivre les choix de modélisation</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Séparer du test final</a:t>
                      </a:r>
                    </a:p>
                  </a:txBody>
                  <a:tcPr marL="114300" marR="114300" marT="114300" marB="114300">
                    <a:lnR w="9525">
                      <a:solidFill>
                        <a:srgbClr val="D6DCE4"/>
                      </a:solidFill>
                      <a:prstDash val="solid"/>
                    </a:lnR>
                    <a:lnB w="9525">
                      <a:solidFill>
                        <a:srgbClr val="D6DCE4"/>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38823AC5-F356-46DF-9B81-EC6BAD531207}"/>
              </a:ext>
            </a:extLst>
          </p:cNvPr>
          <p:cNvSpPr>
            <a:spLocks xmlns:a="http://schemas.openxmlformats.org/drawingml/2006/main" noGrp="1"/>
          </p:cNvSpPr>
          <p:nvPr/>
        </p:nvSpPr>
        <p:spPr>
          <a:xfrm xmlns:a="http://schemas.openxmlformats.org/drawingml/2006/main">
            <a:off x="781050" y="528637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BiLSTM : meilleur état sur validation. SetFit : réglages fixes.</a:t>
            </a:r>
          </a:p>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Le test commun ne sert pas à choisir les paramètres.</a:t>
            </a:r>
          </a:p>
        </p:txBody>
      </p:sp>
    </p:spTree>
    <p:extLst>
      <p:ext uri="{BB962C8B-B14F-4D97-AF65-F5344CB8AC3E}">
        <p14:creationId xmlns:p14="http://schemas.microsoft.com/office/powerpoint/2010/main" val="13473132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DBC476-BFEC-427A-994B-0653B3490F63}"/>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Préparation du texte</a:t>
            </a:r>
          </a:p>
        </p:txBody>
      </p:sp>
      <p:sp>
        <p:nvSpPr>
          <p:cNvPr id="2" name="">
            <a:extLst xmlns:a="http://schemas.openxmlformats.org/drawingml/2006/main">
              <a:ext uri="{FF2B5EF4-FFF2-40B4-BE49-F238E27FC236}">
                <a16:creationId xmlns:a16="http://schemas.microsoft.com/office/drawing/2014/main" id="{FC3F4F40-B35C-4445-B7A5-E62FA53FA3CA}"/>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FC1F2D7E-453B-4E25-BCC9-C30C426D6C9C}"/>
              </a:ext>
            </a:extLst>
          </p:cNvPr>
          <p:cNvSpPr>
            <a:spLocks xmlns:a="http://schemas.openxmlformats.org/drawingml/2006/main" noGrp="1"/>
          </p:cNvSpPr>
          <p:nvPr/>
        </p:nvSpPr>
        <p:spPr>
          <a:xfrm xmlns:a="http://schemas.openxmlformats.org/drawingml/2006/main">
            <a:off x="781050" y="1666875"/>
            <a:ext cx="1057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BiLSTM : minuscules, suppression de la ponctuation,</a:t>
            </a:r>
          </a:p>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des URL, mentions et hashtags.</a:t>
            </a:r>
          </a:p>
        </p:txBody>
      </p:sp>
      <p:sp>
        <p:nvSpPr>
          <p:cNvPr id="4" name="">
            <a:extLst xmlns:a="http://schemas.openxmlformats.org/drawingml/2006/main">
              <a:ext uri="{FF2B5EF4-FFF2-40B4-BE49-F238E27FC236}">
                <a16:creationId xmlns:a16="http://schemas.microsoft.com/office/drawing/2014/main" id="{867212E0-E48D-44A8-9B66-AD34DD06901D}"/>
              </a:ext>
            </a:extLst>
          </p:cNvPr>
          <p:cNvSpPr>
            <a:spLocks xmlns:a="http://schemas.openxmlformats.org/drawingml/2006/main" noGrp="1"/>
          </p:cNvSpPr>
          <p:nvPr/>
        </p:nvSpPr>
        <p:spPr>
          <a:xfrm xmlns:a="http://schemas.openxmlformats.org/drawingml/2006/main">
            <a:off x="781050" y="2762250"/>
            <a:ext cx="1057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SetFit : ponctuation et casse conservées, URL remplacées</a:t>
            </a:r>
          </a:p>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par http et mentions par @user.</a:t>
            </a:r>
          </a:p>
        </p:txBody>
      </p:sp>
      <p:sp>
        <p:nvSpPr>
          <p:cNvPr id="5" name="">
            <a:extLst xmlns:a="http://schemas.openxmlformats.org/drawingml/2006/main">
              <a:ext uri="{FF2B5EF4-FFF2-40B4-BE49-F238E27FC236}">
                <a16:creationId xmlns:a16="http://schemas.microsoft.com/office/drawing/2014/main" id="{5781BCBD-D709-4164-827A-3E375A416A5B}"/>
              </a:ext>
            </a:extLst>
          </p:cNvPr>
          <p:cNvSpPr>
            <a:spLocks xmlns:a="http://schemas.openxmlformats.org/drawingml/2006/main" noGrp="1"/>
          </p:cNvSpPr>
          <p:nvPr/>
        </p:nvSpPr>
        <p:spPr>
          <a:xfrm xmlns:a="http://schemas.openxmlformats.org/drawingml/2006/main">
            <a:off x="781050" y="3857625"/>
            <a:ext cx="1057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Les caractères pictographiques deviennent des descriptions.</a:t>
            </a:r>
          </a:p>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Les répétitions de lettres sont réduites.</a:t>
            </a:r>
          </a:p>
        </p:txBody>
      </p:sp>
      <p:sp>
        <p:nvSpPr>
          <p:cNvPr id="6" name="">
            <a:extLst xmlns:a="http://schemas.openxmlformats.org/drawingml/2006/main">
              <a:ext uri="{FF2B5EF4-FFF2-40B4-BE49-F238E27FC236}">
                <a16:creationId xmlns:a16="http://schemas.microsoft.com/office/drawing/2014/main" id="{83B6BC7B-ACDB-4F0E-B9D1-5C2C4272BB5F}"/>
              </a:ext>
            </a:extLst>
          </p:cNvPr>
          <p:cNvSpPr>
            <a:spLocks xmlns:a="http://schemas.openxmlformats.org/drawingml/2006/main" noGrp="1"/>
          </p:cNvSpPr>
          <p:nvPr/>
        </p:nvSpPr>
        <p:spPr>
          <a:xfrm xmlns:a="http://schemas.openxmlformats.org/drawingml/2006/main">
            <a:off x="781050" y="4953000"/>
            <a:ext cx="1057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Le même nettoyage SetFit est utilisé pour les prédictions.</a:t>
            </a:r>
          </a:p>
        </p:txBody>
      </p:sp>
    </p:spTree>
    <p:extLst>
      <p:ext uri="{BB962C8B-B14F-4D97-AF65-F5344CB8AC3E}">
        <p14:creationId xmlns:p14="http://schemas.microsoft.com/office/powerpoint/2010/main" val="10797948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8D08E4-FCD6-4B03-9CAD-26939FFD9774}"/>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Résultats sur le test corrigé</a:t>
            </a:r>
          </a:p>
        </p:txBody>
      </p:sp>
      <p:sp>
        <p:nvSpPr>
          <p:cNvPr id="2" name="">
            <a:extLst xmlns:a="http://schemas.openxmlformats.org/drawingml/2006/main">
              <a:ext uri="{FF2B5EF4-FFF2-40B4-BE49-F238E27FC236}">
                <a16:creationId xmlns:a16="http://schemas.microsoft.com/office/drawing/2014/main" id="{33D1F090-0A02-46F9-8109-536CFA6D0B7A}"/>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11</a:t>
            </a:r>
          </a:p>
        </p:txBody>
      </p:sp>
      <p:graphicFrame>
        <p:nvGraphicFramePr>
          <p:cNvPr id="3" name="Chart">
            <a:extLst xmlns:a="http://schemas.openxmlformats.org/drawingml/2006/main">
              <a:ext uri="{FF2B5EF4-FFF2-40B4-BE49-F238E27FC236}">
                <a16:creationId xmlns:a16="http://schemas.microsoft.com/office/drawing/2014/main" id="{F5C9E5AF-8620-4762-9032-792020CC8897}"/>
              </a:ext>
            </a:extLst>
          </p:cNvPr>
          <p:cNvGraphicFramePr/>
          <p:nvPr/>
        </p:nvGraphicFramePr>
        <p:xfrm>
          <a:off xmlns:a="http://schemas.openxmlformats.org/drawingml/2006/main" x="809625" y="1666875"/>
          <a:ext xmlns:a="http://schemas.openxmlformats.org/drawingml/2006/main" cx="10572750" cy="3524250"/>
        </p:xfrm>
        <a:graphic xmlns:a="http://schemas.openxmlformats.org/drawingml/2006/main">
          <a:graphicData uri="http://schemas.openxmlformats.org/drawingml/2006/chart">
            <c:chart xmlns:r="http://schemas.openxmlformats.org/officeDocument/2006/relationships" xmlns:c="http://schemas.openxmlformats.org/drawingml/2006/chart" r:id="R1520fd95d9c84afb"/>
          </a:graphicData>
        </a:graphic>
      </p:graphicFrame>
      <p:sp>
        <p:nvSpPr>
          <p:cNvPr id="4" name="">
            <a:extLst xmlns:a="http://schemas.openxmlformats.org/drawingml/2006/main">
              <a:ext uri="{FF2B5EF4-FFF2-40B4-BE49-F238E27FC236}">
                <a16:creationId xmlns:a16="http://schemas.microsoft.com/office/drawing/2014/main" id="{EC549C1A-5B72-444A-ABF2-A88D6649C1B0}"/>
              </a:ext>
            </a:extLst>
          </p:cNvPr>
          <p:cNvSpPr>
            <a:spLocks xmlns:a="http://schemas.openxmlformats.org/drawingml/2006/main" noGrp="1"/>
          </p:cNvSpPr>
          <p:nvPr/>
        </p:nvSpPr>
        <p:spPr>
          <a:xfrm xmlns:a="http://schemas.openxmlformats.org/drawingml/2006/main">
            <a:off x="781050" y="547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F1 macro : 0,8120 contre 0,8163.</a:t>
            </a:r>
          </a:p>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Gain SetFit : 0,427 point de pourcentage.</a:t>
            </a:r>
          </a:p>
        </p:txBody>
      </p:sp>
    </p:spTree>
    <p:extLst>
      <p:ext uri="{BB962C8B-B14F-4D97-AF65-F5344CB8AC3E}">
        <p14:creationId xmlns:p14="http://schemas.microsoft.com/office/powerpoint/2010/main" val="21250900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38A4EA-0069-4787-B207-251A6A8BB50B}"/>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Interprétabilité globale</a:t>
            </a:r>
          </a:p>
        </p:txBody>
      </p:sp>
      <p:sp>
        <p:nvSpPr>
          <p:cNvPr id="2" name="">
            <a:extLst xmlns:a="http://schemas.openxmlformats.org/drawingml/2006/main">
              <a:ext uri="{FF2B5EF4-FFF2-40B4-BE49-F238E27FC236}">
                <a16:creationId xmlns:a16="http://schemas.microsoft.com/office/drawing/2014/main" id="{1A577B47-E299-4B84-B455-3F65AACD6984}"/>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3574BF53-057E-4769-B0BE-6B0F1EC8CE8F}"/>
              </a:ext>
            </a:extLst>
          </p:cNvPr>
          <p:cNvSpPr>
            <a:spLocks xmlns:a="http://schemas.openxmlformats.org/drawingml/2006/main" noGrp="1"/>
          </p:cNvSpPr>
          <p:nvPr/>
        </p:nvSpPr>
        <p:spPr>
          <a:xfrm xmlns:a="http://schemas.openxmlformats.org/drawingml/2006/main">
            <a:off x="781050" y="16668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Moyenne des effets de suppression sur 100 tweets.</a:t>
            </a:r>
          </a:p>
        </p:txBody>
      </p:sp>
      <p:graphicFrame>
        <p:nvGraphicFramePr>
          <p:cNvPr id="4" name="">
            <a:extLst xmlns:a="http://schemas.openxmlformats.org/drawingml/2006/main">
              <a:ext uri="{FF2B5EF4-FFF2-40B4-BE49-F238E27FC236}">
                <a16:creationId xmlns:a16="http://schemas.microsoft.com/office/drawing/2014/main" id="{419C8F01-E736-4224-A391-621501157D83}"/>
              </a:ext>
            </a:extLst>
          </p:cNvPr>
          <p:cNvGraphicFramePr/>
          <p:nvPr/>
        </p:nvGraphicFramePr>
        <p:xfrm>
          <a:off xmlns:a="http://schemas.openxmlformats.org/drawingml/2006/main" x="762000" y="2428875"/>
          <a:ext xmlns:a="http://schemas.openxmlformats.org/drawingml/2006/main" cx="10668000" cy="2476500"/>
        </p:xfrm>
        <a:graphic xmlns:a="http://schemas.openxmlformats.org/drawingml/2006/main">
          <a:graphicData uri="http://schemas.openxmlformats.org/drawingml/2006/table">
            <a:tbl>
              <a:tblPr/>
              <a:tblGrid>
                <a:gridCol w="3048000"/>
                <a:gridCol w="4572000"/>
                <a:gridCol w="3048000"/>
              </a:tblGrid>
              <a:tr h="619125">
                <a:tc>
                  <a:txBody>
                    <a:bodyPr/>
                    <a:lstStyle/>
                    <a:p>
                      <a:r>
                        <a:rPr sz="1875" b="1">
                          <a:solidFill>
                            <a:srgbClr val="182C49"/>
                          </a:solidFill>
                          <a:latin typeface="Arial"/>
                          <a:ea typeface="Arial"/>
                          <a:cs typeface="Arial"/>
                        </a:rPr>
                        <a:t>Mot</a:t>
                      </a:r>
                    </a:p>
                  </a:txBody>
                  <a:tcPr marL="114300" marR="114300" marT="114300" marB="114300">
                    <a:lnL w="9525">
                      <a:solidFill>
                        <a:srgbClr val="D6DCE4"/>
                      </a:solidFill>
                      <a:prstDash val="solid"/>
                    </a:lnL>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Variation absolue moyenne</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Occurrences</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r>
              <a:tr h="619125">
                <a:tc>
                  <a:txBody>
                    <a:bodyPr/>
                    <a:lstStyle/>
                    <a:p>
                      <a:r>
                        <a:rPr sz="1875">
                          <a:solidFill>
                            <a:srgbClr val="182C49"/>
                          </a:solidFill>
                          <a:latin typeface="Arial"/>
                          <a:ea typeface="Arial"/>
                          <a:cs typeface="Arial"/>
                        </a:rPr>
                        <a:t>see</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0,3463</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3</a:t>
                      </a:r>
                    </a:p>
                  </a:txBody>
                  <a:tcPr marL="114300" marR="114300" marT="114300" marB="114300">
                    <a:lnR w="9525">
                      <a:solidFill>
                        <a:srgbClr val="D6DCE4"/>
                      </a:solidFill>
                      <a:prstDash val="solid"/>
                    </a:lnR>
                    <a:lnB w="9525">
                      <a:solidFill>
                        <a:srgbClr val="D6DCE4"/>
                      </a:solidFill>
                      <a:prstDash val="solid"/>
                    </a:lnB>
                  </a:tcPr>
                </a:tc>
              </a:tr>
              <a:tr h="619125">
                <a:tc>
                  <a:txBody>
                    <a:bodyPr/>
                    <a:lstStyle/>
                    <a:p>
                      <a:r>
                        <a:rPr sz="1875">
                          <a:solidFill>
                            <a:srgbClr val="182C49"/>
                          </a:solidFill>
                          <a:latin typeface="Arial"/>
                          <a:ea typeface="Arial"/>
                          <a:cs typeface="Arial"/>
                        </a:rPr>
                        <a:t>down</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0,3325</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3</a:t>
                      </a:r>
                    </a:p>
                  </a:txBody>
                  <a:tcPr marL="114300" marR="114300" marT="114300" marB="114300">
                    <a:lnR w="9525">
                      <a:solidFill>
                        <a:srgbClr val="D6DCE4"/>
                      </a:solidFill>
                      <a:prstDash val="solid"/>
                    </a:lnR>
                    <a:lnB w="9525">
                      <a:solidFill>
                        <a:srgbClr val="D6DCE4"/>
                      </a:solidFill>
                      <a:prstDash val="solid"/>
                    </a:lnB>
                  </a:tcPr>
                </a:tc>
              </a:tr>
              <a:tr h="619125">
                <a:tc>
                  <a:txBody>
                    <a:bodyPr/>
                    <a:lstStyle/>
                    <a:p>
                      <a:r>
                        <a:rPr sz="1875">
                          <a:solidFill>
                            <a:srgbClr val="182C49"/>
                          </a:solidFill>
                          <a:latin typeface="Arial"/>
                          <a:ea typeface="Arial"/>
                          <a:cs typeface="Arial"/>
                        </a:rPr>
                        <a:t>didn't</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0,3322</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3</a:t>
                      </a:r>
                    </a:p>
                  </a:txBody>
                  <a:tcPr marL="114300" marR="114300" marT="114300" marB="114300">
                    <a:lnR w="9525">
                      <a:solidFill>
                        <a:srgbClr val="D6DCE4"/>
                      </a:solidFill>
                      <a:prstDash val="solid"/>
                    </a:lnR>
                    <a:lnB w="9525">
                      <a:solidFill>
                        <a:srgbClr val="D6DCE4"/>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55DFC265-BE97-493D-8957-D97814441B18}"/>
              </a:ext>
            </a:extLst>
          </p:cNvPr>
          <p:cNvSpPr>
            <a:spLocks xmlns:a="http://schemas.openxmlformats.org/drawingml/2006/main" noGrp="1"/>
          </p:cNvSpPr>
          <p:nvPr/>
        </p:nvSpPr>
        <p:spPr>
          <a:xfrm xmlns:a="http://schemas.openxmlformats.org/drawingml/2006/main">
            <a:off x="781050" y="53340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Cette synthèse décrit un échantillon, pas tout le corpus.</a:t>
            </a:r>
          </a:p>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La fréquence d’un mot et son effet sur le modèle sont différents.</a:t>
            </a:r>
          </a:p>
        </p:txBody>
      </p:sp>
    </p:spTree>
    <p:extLst>
      <p:ext uri="{BB962C8B-B14F-4D97-AF65-F5344CB8AC3E}">
        <p14:creationId xmlns:p14="http://schemas.microsoft.com/office/powerpoint/2010/main" val="14289671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22D38D-9FC8-46FD-BB53-C6B7DEA09D16}"/>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Matrices de confusion</a:t>
            </a:r>
          </a:p>
        </p:txBody>
      </p:sp>
      <p:sp>
        <p:nvSpPr>
          <p:cNvPr id="2" name="">
            <a:extLst xmlns:a="http://schemas.openxmlformats.org/drawingml/2006/main">
              <a:ext uri="{FF2B5EF4-FFF2-40B4-BE49-F238E27FC236}">
                <a16:creationId xmlns:a16="http://schemas.microsoft.com/office/drawing/2014/main" id="{03D8F90D-EAE2-4710-B873-D114DC6502E0}"/>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FF6F9EFF-4E65-449D-8CF5-6F98B8F476B3}"/>
              </a:ext>
            </a:extLst>
          </p:cNvPr>
          <p:cNvSpPr>
            <a:spLocks xmlns:a="http://schemas.openxmlformats.org/drawingml/2006/main" noGrp="1"/>
          </p:cNvSpPr>
          <p:nvPr/>
        </p:nvSpPr>
        <p:spPr>
          <a:xfrm xmlns:a="http://schemas.openxmlformats.org/drawingml/2006/main">
            <a:off x="762000" y="1619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82C49"/>
                </a:solidFill>
                <a:latin typeface="Arial"/>
                <a:ea typeface="Arial"/>
                <a:cs typeface="Arial"/>
              </a:defRPr>
            </a:defPPr>
            <a:lvl1pPr>
              <a:defRPr sz="2325" b="1">
                <a:solidFill>
                  <a:srgbClr val="182C49"/>
                </a:solidFill>
                <a:latin typeface="Arial"/>
                <a:ea typeface="Arial"/>
                <a:cs typeface="Arial"/>
              </a:defRPr>
            </a:lvl1pPr>
            <a:lvl2pPr>
              <a:defRPr sz="2325" b="1">
                <a:solidFill>
                  <a:srgbClr val="182C49"/>
                </a:solidFill>
                <a:latin typeface="Arial"/>
                <a:ea typeface="Arial"/>
                <a:cs typeface="Arial"/>
              </a:defRPr>
            </a:lvl2pPr>
            <a:lvl3pPr>
              <a:defRPr sz="2325" b="1">
                <a:solidFill>
                  <a:srgbClr val="182C49"/>
                </a:solidFill>
                <a:latin typeface="Arial"/>
                <a:ea typeface="Arial"/>
                <a:cs typeface="Arial"/>
              </a:defRPr>
            </a:lvl3pPr>
            <a:lvl4pPr>
              <a:defRPr sz="2325" b="1">
                <a:solidFill>
                  <a:srgbClr val="182C49"/>
                </a:solidFill>
                <a:latin typeface="Arial"/>
                <a:ea typeface="Arial"/>
                <a:cs typeface="Arial"/>
              </a:defRPr>
            </a:lvl4pPr>
            <a:lvl5pPr>
              <a:defRPr sz="2325" b="1">
                <a:solidFill>
                  <a:srgbClr val="182C49"/>
                </a:solidFill>
                <a:latin typeface="Arial"/>
                <a:ea typeface="Arial"/>
                <a:cs typeface="Arial"/>
              </a:defRPr>
            </a:lvl5pPr>
            <a:lvl6pPr>
              <a:defRPr sz="2325" b="1">
                <a:solidFill>
                  <a:srgbClr val="182C49"/>
                </a:solidFill>
                <a:latin typeface="Arial"/>
                <a:ea typeface="Arial"/>
                <a:cs typeface="Arial"/>
              </a:defRPr>
            </a:lvl6pPr>
            <a:lvl7pPr>
              <a:defRPr sz="2325" b="1">
                <a:solidFill>
                  <a:srgbClr val="182C49"/>
                </a:solidFill>
                <a:latin typeface="Arial"/>
                <a:ea typeface="Arial"/>
                <a:cs typeface="Arial"/>
              </a:defRPr>
            </a:lvl7pPr>
            <a:lvl8pPr>
              <a:defRPr sz="2325" b="1">
                <a:solidFill>
                  <a:srgbClr val="182C49"/>
                </a:solidFill>
                <a:latin typeface="Arial"/>
                <a:ea typeface="Arial"/>
                <a:cs typeface="Arial"/>
              </a:defRPr>
            </a:lvl8pPr>
            <a:lvl9pPr>
              <a:defRPr sz="2325" b="1">
                <a:solidFill>
                  <a:srgbClr val="182C49"/>
                </a:solidFill>
                <a:latin typeface="Arial"/>
                <a:ea typeface="Arial"/>
                <a:cs typeface="Arial"/>
              </a:defRPr>
            </a:lvl9pPr>
          </a:lstStyle>
          <a:p xmlns:a="http://schemas.openxmlformats.org/drawingml/2006/main">
            <a:pPr>
              <a:defRPr sz="2325" b="1">
                <a:solidFill>
                  <a:srgbClr val="182C49"/>
                </a:solidFill>
                <a:latin typeface="Arial"/>
                <a:ea typeface="Arial"/>
                <a:cs typeface="Arial"/>
              </a:defRPr>
            </a:pPr>
            <a:r>
              <a:rPr sz="2325" b="1">
                <a:solidFill>
                  <a:srgbClr val="182C49"/>
                </a:solidFill>
                <a:latin typeface="Arial"/>
                <a:ea typeface="Arial"/>
                <a:cs typeface="Arial"/>
              </a:rPr>
              <a:t>BiLSTM + GloVe</a:t>
            </a:r>
          </a:p>
        </p:txBody>
      </p:sp>
      <p:sp>
        <p:nvSpPr>
          <p:cNvPr id="4" name="">
            <a:extLst xmlns:a="http://schemas.openxmlformats.org/drawingml/2006/main">
              <a:ext uri="{FF2B5EF4-FFF2-40B4-BE49-F238E27FC236}">
                <a16:creationId xmlns:a16="http://schemas.microsoft.com/office/drawing/2014/main" id="{EF53355A-2B92-403E-B31F-5061FD947A40}"/>
              </a:ext>
            </a:extLst>
          </p:cNvPr>
          <p:cNvSpPr>
            <a:spLocks xmlns:a="http://schemas.openxmlformats.org/drawingml/2006/main" noGrp="1"/>
          </p:cNvSpPr>
          <p:nvPr/>
        </p:nvSpPr>
        <p:spPr>
          <a:xfrm xmlns:a="http://schemas.openxmlformats.org/drawingml/2006/main">
            <a:off x="6286500" y="1619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82C49"/>
                </a:solidFill>
                <a:latin typeface="Arial"/>
                <a:ea typeface="Arial"/>
                <a:cs typeface="Arial"/>
              </a:defRPr>
            </a:defPPr>
            <a:lvl1pPr>
              <a:defRPr sz="2325" b="1">
                <a:solidFill>
                  <a:srgbClr val="182C49"/>
                </a:solidFill>
                <a:latin typeface="Arial"/>
                <a:ea typeface="Arial"/>
                <a:cs typeface="Arial"/>
              </a:defRPr>
            </a:lvl1pPr>
            <a:lvl2pPr>
              <a:defRPr sz="2325" b="1">
                <a:solidFill>
                  <a:srgbClr val="182C49"/>
                </a:solidFill>
                <a:latin typeface="Arial"/>
                <a:ea typeface="Arial"/>
                <a:cs typeface="Arial"/>
              </a:defRPr>
            </a:lvl2pPr>
            <a:lvl3pPr>
              <a:defRPr sz="2325" b="1">
                <a:solidFill>
                  <a:srgbClr val="182C49"/>
                </a:solidFill>
                <a:latin typeface="Arial"/>
                <a:ea typeface="Arial"/>
                <a:cs typeface="Arial"/>
              </a:defRPr>
            </a:lvl3pPr>
            <a:lvl4pPr>
              <a:defRPr sz="2325" b="1">
                <a:solidFill>
                  <a:srgbClr val="182C49"/>
                </a:solidFill>
                <a:latin typeface="Arial"/>
                <a:ea typeface="Arial"/>
                <a:cs typeface="Arial"/>
              </a:defRPr>
            </a:lvl4pPr>
            <a:lvl5pPr>
              <a:defRPr sz="2325" b="1">
                <a:solidFill>
                  <a:srgbClr val="182C49"/>
                </a:solidFill>
                <a:latin typeface="Arial"/>
                <a:ea typeface="Arial"/>
                <a:cs typeface="Arial"/>
              </a:defRPr>
            </a:lvl5pPr>
            <a:lvl6pPr>
              <a:defRPr sz="2325" b="1">
                <a:solidFill>
                  <a:srgbClr val="182C49"/>
                </a:solidFill>
                <a:latin typeface="Arial"/>
                <a:ea typeface="Arial"/>
                <a:cs typeface="Arial"/>
              </a:defRPr>
            </a:lvl6pPr>
            <a:lvl7pPr>
              <a:defRPr sz="2325" b="1">
                <a:solidFill>
                  <a:srgbClr val="182C49"/>
                </a:solidFill>
                <a:latin typeface="Arial"/>
                <a:ea typeface="Arial"/>
                <a:cs typeface="Arial"/>
              </a:defRPr>
            </a:lvl7pPr>
            <a:lvl8pPr>
              <a:defRPr sz="2325" b="1">
                <a:solidFill>
                  <a:srgbClr val="182C49"/>
                </a:solidFill>
                <a:latin typeface="Arial"/>
                <a:ea typeface="Arial"/>
                <a:cs typeface="Arial"/>
              </a:defRPr>
            </a:lvl8pPr>
            <a:lvl9pPr>
              <a:defRPr sz="2325" b="1">
                <a:solidFill>
                  <a:srgbClr val="182C49"/>
                </a:solidFill>
                <a:latin typeface="Arial"/>
                <a:ea typeface="Arial"/>
                <a:cs typeface="Arial"/>
              </a:defRPr>
            </a:lvl9pPr>
          </a:lstStyle>
          <a:p xmlns:a="http://schemas.openxmlformats.org/drawingml/2006/main">
            <a:pPr>
              <a:defRPr sz="2325" b="1">
                <a:solidFill>
                  <a:srgbClr val="182C49"/>
                </a:solidFill>
                <a:latin typeface="Arial"/>
                <a:ea typeface="Arial"/>
                <a:cs typeface="Arial"/>
              </a:defRPr>
            </a:pPr>
            <a:r>
              <a:rPr sz="2325" b="1">
                <a:solidFill>
                  <a:srgbClr val="182C49"/>
                </a:solidFill>
                <a:latin typeface="Arial"/>
                <a:ea typeface="Arial"/>
                <a:cs typeface="Arial"/>
              </a:rPr>
              <a:t>SetFit + MPNet</a:t>
            </a:r>
          </a:p>
        </p:txBody>
      </p:sp>
      <p:graphicFrame>
        <p:nvGraphicFramePr>
          <p:cNvPr id="5" name="">
            <a:extLst xmlns:a="http://schemas.openxmlformats.org/drawingml/2006/main">
              <a:ext uri="{FF2B5EF4-FFF2-40B4-BE49-F238E27FC236}">
                <a16:creationId xmlns:a16="http://schemas.microsoft.com/office/drawing/2014/main" id="{876EF7BF-E476-4736-84FE-923C97C2AF90}"/>
              </a:ext>
            </a:extLst>
          </p:cNvPr>
          <p:cNvGraphicFramePr/>
          <p:nvPr/>
        </p:nvGraphicFramePr>
        <p:xfrm>
          <a:off xmlns:a="http://schemas.openxmlformats.org/drawingml/2006/main" x="762000" y="2286000"/>
          <a:ext xmlns:a="http://schemas.openxmlformats.org/drawingml/2006/main" cx="5143500" cy="2571750"/>
        </p:xfrm>
        <a:graphic xmlns:a="http://schemas.openxmlformats.org/drawingml/2006/main">
          <a:graphicData uri="http://schemas.openxmlformats.org/drawingml/2006/table">
            <a:tbl>
              <a:tblPr/>
              <a:tblGrid>
                <a:gridCol w="1762125"/>
                <a:gridCol w="1666875"/>
                <a:gridCol w="1714500"/>
              </a:tblGrid>
              <a:tr h="857250">
                <a:tc>
                  <a:txBody>
                    <a:bodyPr/>
                    <a:lstStyle/>
                    <a:p>
                      <a:r>
                        <a:rPr sz="1875" b="1">
                          <a:solidFill>
                            <a:srgbClr val="182C49"/>
                          </a:solidFill>
                          <a:latin typeface="Arial"/>
                          <a:ea typeface="Arial"/>
                          <a:cs typeface="Arial"/>
                        </a:rPr>
                        <a:t>Label réel</a:t>
                      </a:r>
                    </a:p>
                  </a:txBody>
                  <a:tcPr marL="114300" marR="114300" marT="114300" marB="114300">
                    <a:lnL w="9525">
                      <a:solidFill>
                        <a:srgbClr val="D6DCE4"/>
                      </a:solidFill>
                      <a:prstDash val="solid"/>
                    </a:lnL>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Prédit négatif</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Prédit positif</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r>
              <a:tr h="857250">
                <a:tc>
                  <a:txBody>
                    <a:bodyPr/>
                    <a:lstStyle/>
                    <a:p>
                      <a:r>
                        <a:rPr sz="1875">
                          <a:solidFill>
                            <a:srgbClr val="182C49"/>
                          </a:solidFill>
                          <a:latin typeface="Arial"/>
                          <a:ea typeface="Arial"/>
                          <a:cs typeface="Arial"/>
                        </a:rPr>
                        <a:t>Négatif</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20 006</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3 951</a:t>
                      </a:r>
                    </a:p>
                  </a:txBody>
                  <a:tcPr marL="114300" marR="114300" marT="114300" marB="114300">
                    <a:lnR w="9525">
                      <a:solidFill>
                        <a:srgbClr val="D6DCE4"/>
                      </a:solidFill>
                      <a:prstDash val="solid"/>
                    </a:lnR>
                    <a:lnB w="9525">
                      <a:solidFill>
                        <a:srgbClr val="D6DCE4"/>
                      </a:solidFill>
                      <a:prstDash val="solid"/>
                    </a:lnB>
                  </a:tcPr>
                </a:tc>
              </a:tr>
              <a:tr h="857250">
                <a:tc>
                  <a:txBody>
                    <a:bodyPr/>
                    <a:lstStyle/>
                    <a:p>
                      <a:r>
                        <a:rPr sz="1875">
                          <a:solidFill>
                            <a:srgbClr val="182C49"/>
                          </a:solidFill>
                          <a:latin typeface="Arial"/>
                          <a:ea typeface="Arial"/>
                          <a:cs typeface="Arial"/>
                        </a:rPr>
                        <a:t>Positif</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4 974</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18 581</a:t>
                      </a:r>
                    </a:p>
                  </a:txBody>
                  <a:tcPr marL="114300" marR="114300" marT="114300" marB="114300">
                    <a:lnR w="9525">
                      <a:solidFill>
                        <a:srgbClr val="D6DCE4"/>
                      </a:solidFill>
                      <a:prstDash val="solid"/>
                    </a:lnR>
                    <a:lnB w="9525">
                      <a:solidFill>
                        <a:srgbClr val="D6DCE4"/>
                      </a:solidFill>
                      <a:prstDash val="solid"/>
                    </a:lnB>
                  </a:tcPr>
                </a:tc>
              </a:tr>
            </a:tbl>
          </a:graphicData>
        </a:graphic>
      </p:graphicFrame>
      <p:graphicFrame>
        <p:nvGraphicFramePr>
          <p:cNvPr id="6" name="">
            <a:extLst xmlns:a="http://schemas.openxmlformats.org/drawingml/2006/main">
              <a:ext uri="{FF2B5EF4-FFF2-40B4-BE49-F238E27FC236}">
                <a16:creationId xmlns:a16="http://schemas.microsoft.com/office/drawing/2014/main" id="{D66C49C4-47FC-4540-9443-126EB81C983F}"/>
              </a:ext>
            </a:extLst>
          </p:cNvPr>
          <p:cNvGraphicFramePr/>
          <p:nvPr/>
        </p:nvGraphicFramePr>
        <p:xfrm>
          <a:off xmlns:a="http://schemas.openxmlformats.org/drawingml/2006/main" x="6286500" y="2286000"/>
          <a:ext xmlns:a="http://schemas.openxmlformats.org/drawingml/2006/main" cx="5143500" cy="2571750"/>
        </p:xfrm>
        <a:graphic xmlns:a="http://schemas.openxmlformats.org/drawingml/2006/main">
          <a:graphicData uri="http://schemas.openxmlformats.org/drawingml/2006/table">
            <a:tbl>
              <a:tblPr/>
              <a:tblGrid>
                <a:gridCol w="1762125"/>
                <a:gridCol w="1666875"/>
                <a:gridCol w="1714500"/>
              </a:tblGrid>
              <a:tr h="857250">
                <a:tc>
                  <a:txBody>
                    <a:bodyPr/>
                    <a:lstStyle/>
                    <a:p>
                      <a:r>
                        <a:rPr sz="1875" b="1">
                          <a:solidFill>
                            <a:srgbClr val="182C49"/>
                          </a:solidFill>
                          <a:latin typeface="Arial"/>
                          <a:ea typeface="Arial"/>
                          <a:cs typeface="Arial"/>
                        </a:rPr>
                        <a:t>Label réel</a:t>
                      </a:r>
                    </a:p>
                  </a:txBody>
                  <a:tcPr marL="114300" marR="114300" marT="114300" marB="114300">
                    <a:lnL w="9525">
                      <a:solidFill>
                        <a:srgbClr val="D6DCE4"/>
                      </a:solidFill>
                      <a:prstDash val="solid"/>
                    </a:lnL>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Prédit négatif</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Prédit positif</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r>
              <a:tr h="857250">
                <a:tc>
                  <a:txBody>
                    <a:bodyPr/>
                    <a:lstStyle/>
                    <a:p>
                      <a:r>
                        <a:rPr sz="1875">
                          <a:solidFill>
                            <a:srgbClr val="182C49"/>
                          </a:solidFill>
                          <a:latin typeface="Arial"/>
                          <a:ea typeface="Arial"/>
                          <a:cs typeface="Arial"/>
                        </a:rPr>
                        <a:t>Négatif</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19 363</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4 594</a:t>
                      </a:r>
                    </a:p>
                  </a:txBody>
                  <a:tcPr marL="114300" marR="114300" marT="114300" marB="114300">
                    <a:lnR w="9525">
                      <a:solidFill>
                        <a:srgbClr val="D6DCE4"/>
                      </a:solidFill>
                      <a:prstDash val="solid"/>
                    </a:lnR>
                    <a:lnB w="9525">
                      <a:solidFill>
                        <a:srgbClr val="D6DCE4"/>
                      </a:solidFill>
                      <a:prstDash val="solid"/>
                    </a:lnB>
                  </a:tcPr>
                </a:tc>
              </a:tr>
              <a:tr h="857250">
                <a:tc>
                  <a:txBody>
                    <a:bodyPr/>
                    <a:lstStyle/>
                    <a:p>
                      <a:r>
                        <a:rPr sz="1875">
                          <a:solidFill>
                            <a:srgbClr val="182C49"/>
                          </a:solidFill>
                          <a:latin typeface="Arial"/>
                          <a:ea typeface="Arial"/>
                          <a:cs typeface="Arial"/>
                        </a:rPr>
                        <a:t>Positif</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4 136</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19 419</a:t>
                      </a:r>
                    </a:p>
                  </a:txBody>
                  <a:tcPr marL="114300" marR="114300" marT="114300" marB="114300">
                    <a:lnR w="9525">
                      <a:solidFill>
                        <a:srgbClr val="D6DCE4"/>
                      </a:solidFill>
                      <a:prstDash val="solid"/>
                    </a:lnR>
                    <a:lnB w="9525">
                      <a:solidFill>
                        <a:srgbClr val="D6DCE4"/>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38496060-F126-4B76-AE68-D76D292B7E4E}"/>
              </a:ext>
            </a:extLst>
          </p:cNvPr>
          <p:cNvSpPr>
            <a:spLocks xmlns:a="http://schemas.openxmlformats.org/drawingml/2006/main" noGrp="1"/>
          </p:cNvSpPr>
          <p:nvPr/>
        </p:nvSpPr>
        <p:spPr>
          <a:xfrm xmlns:a="http://schemas.openxmlformats.org/drawingml/2006/main">
            <a:off x="781050" y="528637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C49"/>
                </a:solidFill>
                <a:latin typeface="Arial"/>
                <a:ea typeface="Arial"/>
                <a:cs typeface="Arial"/>
              </a:defRPr>
            </a:defPPr>
            <a:lvl1pPr>
              <a:defRPr sz="2100" b="0">
                <a:solidFill>
                  <a:srgbClr val="182C49"/>
                </a:solidFill>
                <a:latin typeface="Arial"/>
                <a:ea typeface="Arial"/>
                <a:cs typeface="Arial"/>
              </a:defRPr>
            </a:lvl1pPr>
            <a:lvl2pPr>
              <a:defRPr sz="2100" b="0">
                <a:solidFill>
                  <a:srgbClr val="182C49"/>
                </a:solidFill>
                <a:latin typeface="Arial"/>
                <a:ea typeface="Arial"/>
                <a:cs typeface="Arial"/>
              </a:defRPr>
            </a:lvl2pPr>
            <a:lvl3pPr>
              <a:defRPr sz="2100" b="0">
                <a:solidFill>
                  <a:srgbClr val="182C49"/>
                </a:solidFill>
                <a:latin typeface="Arial"/>
                <a:ea typeface="Arial"/>
                <a:cs typeface="Arial"/>
              </a:defRPr>
            </a:lvl3pPr>
            <a:lvl4pPr>
              <a:defRPr sz="2100" b="0">
                <a:solidFill>
                  <a:srgbClr val="182C49"/>
                </a:solidFill>
                <a:latin typeface="Arial"/>
                <a:ea typeface="Arial"/>
                <a:cs typeface="Arial"/>
              </a:defRPr>
            </a:lvl4pPr>
            <a:lvl5pPr>
              <a:defRPr sz="2100" b="0">
                <a:solidFill>
                  <a:srgbClr val="182C49"/>
                </a:solidFill>
                <a:latin typeface="Arial"/>
                <a:ea typeface="Arial"/>
                <a:cs typeface="Arial"/>
              </a:defRPr>
            </a:lvl5pPr>
            <a:lvl6pPr>
              <a:defRPr sz="2100" b="0">
                <a:solidFill>
                  <a:srgbClr val="182C49"/>
                </a:solidFill>
                <a:latin typeface="Arial"/>
                <a:ea typeface="Arial"/>
                <a:cs typeface="Arial"/>
              </a:defRPr>
            </a:lvl6pPr>
            <a:lvl7pPr>
              <a:defRPr sz="2100" b="0">
                <a:solidFill>
                  <a:srgbClr val="182C49"/>
                </a:solidFill>
                <a:latin typeface="Arial"/>
                <a:ea typeface="Arial"/>
                <a:cs typeface="Arial"/>
              </a:defRPr>
            </a:lvl7pPr>
            <a:lvl8pPr>
              <a:defRPr sz="2100" b="0">
                <a:solidFill>
                  <a:srgbClr val="182C49"/>
                </a:solidFill>
                <a:latin typeface="Arial"/>
                <a:ea typeface="Arial"/>
                <a:cs typeface="Arial"/>
              </a:defRPr>
            </a:lvl8pPr>
            <a:lvl9pPr>
              <a:defRPr sz="2100" b="0">
                <a:solidFill>
                  <a:srgbClr val="182C49"/>
                </a:solidFill>
                <a:latin typeface="Arial"/>
                <a:ea typeface="Arial"/>
                <a:cs typeface="Arial"/>
              </a:defRPr>
            </a:lvl9pPr>
          </a:lstStyle>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Les deux classes comptent dans le F1 macro.</a:t>
            </a:r>
          </a:p>
          <a:p xmlns:a="http://schemas.openxmlformats.org/drawingml/2006/main">
            <a:pPr>
              <a:defRPr sz="2100" b="0">
                <a:solidFill>
                  <a:srgbClr val="182C49"/>
                </a:solidFill>
                <a:latin typeface="Arial"/>
                <a:ea typeface="Arial"/>
                <a:cs typeface="Arial"/>
              </a:defRPr>
            </a:pPr>
            <a:r>
              <a:rPr sz="2100" b="0">
                <a:solidFill>
                  <a:srgbClr val="182C49"/>
                </a:solidFill>
                <a:latin typeface="Arial"/>
                <a:ea typeface="Arial"/>
                <a:cs typeface="Arial"/>
              </a:rPr>
              <a:t>Les erreurs restent nombreuses malgré des scores proches de 0,82.</a:t>
            </a:r>
          </a:p>
        </p:txBody>
      </p:sp>
    </p:spTree>
    <p:extLst>
      <p:ext uri="{BB962C8B-B14F-4D97-AF65-F5344CB8AC3E}">
        <p14:creationId xmlns:p14="http://schemas.microsoft.com/office/powerpoint/2010/main" val="14968460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51C455-AB6C-45DA-B638-FF8B1A6382AD}"/>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Budget de données et coût de calcul</a:t>
            </a:r>
          </a:p>
        </p:txBody>
      </p:sp>
      <p:sp>
        <p:nvSpPr>
          <p:cNvPr id="2" name="">
            <a:extLst xmlns:a="http://schemas.openxmlformats.org/drawingml/2006/main">
              <a:ext uri="{FF2B5EF4-FFF2-40B4-BE49-F238E27FC236}">
                <a16:creationId xmlns:a16="http://schemas.microsoft.com/office/drawing/2014/main" id="{DB7517AB-D78A-401E-AFB7-69D79D26DA6F}"/>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A46055A5-9EAB-47D7-BE2E-F7107815E334}"/>
              </a:ext>
            </a:extLst>
          </p:cNvPr>
          <p:cNvGraphicFramePr/>
          <p:nvPr/>
        </p:nvGraphicFramePr>
        <p:xfrm>
          <a:off xmlns:a="http://schemas.openxmlformats.org/drawingml/2006/main" x="762000" y="1666875"/>
          <a:ext xmlns:a="http://schemas.openxmlformats.org/drawingml/2006/main" cx="10668000" cy="3143250"/>
        </p:xfrm>
        <a:graphic xmlns:a="http://schemas.openxmlformats.org/drawingml/2006/main">
          <a:graphicData uri="http://schemas.openxmlformats.org/drawingml/2006/table">
            <a:tbl>
              <a:tblPr/>
              <a:tblGrid>
                <a:gridCol w="4286250"/>
                <a:gridCol w="3190875"/>
                <a:gridCol w="3190875"/>
              </a:tblGrid>
              <a:tr h="785813">
                <a:tc>
                  <a:txBody>
                    <a:bodyPr/>
                    <a:lstStyle/>
                    <a:p>
                      <a:r>
                        <a:rPr sz="1875" b="1">
                          <a:solidFill>
                            <a:srgbClr val="182C49"/>
                          </a:solidFill>
                          <a:latin typeface="Arial"/>
                          <a:ea typeface="Arial"/>
                          <a:cs typeface="Arial"/>
                        </a:rPr>
                        <a:t>Indicateur</a:t>
                      </a:r>
                    </a:p>
                  </a:txBody>
                  <a:tcPr marL="114300" marR="114300" marT="114300" marB="114300">
                    <a:lnL w="9525">
                      <a:solidFill>
                        <a:srgbClr val="D6DCE4"/>
                      </a:solidFill>
                      <a:prstDash val="solid"/>
                    </a:lnL>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BiLSTM</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SetFit</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r>
              <a:tr h="785813">
                <a:tc>
                  <a:txBody>
                    <a:bodyPr/>
                    <a:lstStyle/>
                    <a:p>
                      <a:r>
                        <a:rPr sz="1875">
                          <a:solidFill>
                            <a:srgbClr val="182C49"/>
                          </a:solidFill>
                          <a:latin typeface="Arial"/>
                          <a:ea typeface="Arial"/>
                          <a:cs typeface="Arial"/>
                        </a:rPr>
                        <a:t>Exemples labellisés</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300 000</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1 024</a:t>
                      </a:r>
                    </a:p>
                  </a:txBody>
                  <a:tcPr marL="114300" marR="114300" marT="114300" marB="114300">
                    <a:lnR w="9525">
                      <a:solidFill>
                        <a:srgbClr val="D6DCE4"/>
                      </a:solidFill>
                      <a:prstDash val="solid"/>
                    </a:lnR>
                    <a:lnB w="9525">
                      <a:solidFill>
                        <a:srgbClr val="D6DCE4"/>
                      </a:solidFill>
                      <a:prstDash val="solid"/>
                    </a:lnB>
                  </a:tcPr>
                </a:tc>
              </a:tr>
              <a:tr h="785813">
                <a:tc>
                  <a:txBody>
                    <a:bodyPr/>
                    <a:lstStyle/>
                    <a:p>
                      <a:r>
                        <a:rPr sz="1875">
                          <a:solidFill>
                            <a:srgbClr val="182C49"/>
                          </a:solidFill>
                          <a:latin typeface="Arial"/>
                          <a:ea typeface="Arial"/>
                          <a:cs typeface="Arial"/>
                        </a:rPr>
                        <a:t>Entraînement historique</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697,7 s</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2582,0 s</a:t>
                      </a:r>
                    </a:p>
                  </a:txBody>
                  <a:tcPr marL="114300" marR="114300" marT="114300" marB="114300">
                    <a:lnR w="9525">
                      <a:solidFill>
                        <a:srgbClr val="D6DCE4"/>
                      </a:solidFill>
                      <a:prstDash val="solid"/>
                    </a:lnR>
                    <a:lnB w="9525">
                      <a:solidFill>
                        <a:srgbClr val="D6DCE4"/>
                      </a:solidFill>
                      <a:prstDash val="solid"/>
                    </a:lnB>
                  </a:tcPr>
                </a:tc>
              </a:tr>
              <a:tr h="785813">
                <a:tc>
                  <a:txBody>
                    <a:bodyPr/>
                    <a:lstStyle/>
                    <a:p>
                      <a:r>
                        <a:rPr sz="1875">
                          <a:solidFill>
                            <a:srgbClr val="182C49"/>
                          </a:solidFill>
                          <a:latin typeface="Arial"/>
                          <a:ea typeface="Arial"/>
                          <a:cs typeface="Arial"/>
                        </a:rPr>
                        <a:t>Inférence du test corrigé</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3,1 s</a:t>
                      </a:r>
                    </a:p>
                  </a:txBody>
                  <a:tcPr marL="114300" marR="114300" marT="114300" marB="114300">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370,5 s</a:t>
                      </a:r>
                    </a:p>
                  </a:txBody>
                  <a:tcPr marL="114300" marR="114300" marT="114300" marB="114300">
                    <a:lnR w="9525">
                      <a:solidFill>
                        <a:srgbClr val="D6DCE4"/>
                      </a:solidFill>
                      <a:prstDash val="solid"/>
                    </a:lnR>
                    <a:lnB w="9525">
                      <a:solidFill>
                        <a:srgbClr val="D6DCE4"/>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45627A85-46C3-45EE-9594-07377DFF8F1C}"/>
              </a:ext>
            </a:extLst>
          </p:cNvPr>
          <p:cNvSpPr>
            <a:spLocks xmlns:a="http://schemas.openxmlformats.org/drawingml/2006/main" noGrp="1"/>
          </p:cNvSpPr>
          <p:nvPr/>
        </p:nvSpPr>
        <p:spPr>
          <a:xfrm xmlns:a="http://schemas.openxmlformats.org/drawingml/2006/main">
            <a:off x="781050" y="5143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82C49"/>
                </a:solidFill>
                <a:latin typeface="Arial"/>
                <a:ea typeface="Arial"/>
                <a:cs typeface="Arial"/>
              </a:defRPr>
            </a:defPPr>
            <a:lvl1pPr>
              <a:defRPr sz="2550" b="1">
                <a:solidFill>
                  <a:srgbClr val="182C49"/>
                </a:solidFill>
                <a:latin typeface="Arial"/>
                <a:ea typeface="Arial"/>
                <a:cs typeface="Arial"/>
              </a:defRPr>
            </a:lvl1pPr>
            <a:lvl2pPr>
              <a:defRPr sz="2550" b="1">
                <a:solidFill>
                  <a:srgbClr val="182C49"/>
                </a:solidFill>
                <a:latin typeface="Arial"/>
                <a:ea typeface="Arial"/>
                <a:cs typeface="Arial"/>
              </a:defRPr>
            </a:lvl2pPr>
            <a:lvl3pPr>
              <a:defRPr sz="2550" b="1">
                <a:solidFill>
                  <a:srgbClr val="182C49"/>
                </a:solidFill>
                <a:latin typeface="Arial"/>
                <a:ea typeface="Arial"/>
                <a:cs typeface="Arial"/>
              </a:defRPr>
            </a:lvl3pPr>
            <a:lvl4pPr>
              <a:defRPr sz="2550" b="1">
                <a:solidFill>
                  <a:srgbClr val="182C49"/>
                </a:solidFill>
                <a:latin typeface="Arial"/>
                <a:ea typeface="Arial"/>
                <a:cs typeface="Arial"/>
              </a:defRPr>
            </a:lvl4pPr>
            <a:lvl5pPr>
              <a:defRPr sz="2550" b="1">
                <a:solidFill>
                  <a:srgbClr val="182C49"/>
                </a:solidFill>
                <a:latin typeface="Arial"/>
                <a:ea typeface="Arial"/>
                <a:cs typeface="Arial"/>
              </a:defRPr>
            </a:lvl5pPr>
            <a:lvl6pPr>
              <a:defRPr sz="2550" b="1">
                <a:solidFill>
                  <a:srgbClr val="182C49"/>
                </a:solidFill>
                <a:latin typeface="Arial"/>
                <a:ea typeface="Arial"/>
                <a:cs typeface="Arial"/>
              </a:defRPr>
            </a:lvl6pPr>
            <a:lvl7pPr>
              <a:defRPr sz="2550" b="1">
                <a:solidFill>
                  <a:srgbClr val="182C49"/>
                </a:solidFill>
                <a:latin typeface="Arial"/>
                <a:ea typeface="Arial"/>
                <a:cs typeface="Arial"/>
              </a:defRPr>
            </a:lvl7pPr>
            <a:lvl8pPr>
              <a:defRPr sz="2550" b="1">
                <a:solidFill>
                  <a:srgbClr val="182C49"/>
                </a:solidFill>
                <a:latin typeface="Arial"/>
                <a:ea typeface="Arial"/>
                <a:cs typeface="Arial"/>
              </a:defRPr>
            </a:lvl8pPr>
            <a:lvl9pPr>
              <a:defRPr sz="2550" b="1">
                <a:solidFill>
                  <a:srgbClr val="182C49"/>
                </a:solidFill>
                <a:latin typeface="Arial"/>
                <a:ea typeface="Arial"/>
                <a:cs typeface="Arial"/>
              </a:defRPr>
            </a:lvl9pPr>
          </a:lstStyle>
          <a:p xmlns:a="http://schemas.openxmlformats.org/drawingml/2006/main">
            <a:pPr>
              <a:defRPr sz="2550" b="1">
                <a:solidFill>
                  <a:srgbClr val="182C49"/>
                </a:solidFill>
                <a:latin typeface="Arial"/>
                <a:ea typeface="Arial"/>
                <a:cs typeface="Arial"/>
              </a:defRPr>
            </a:pPr>
            <a:r>
              <a:rPr sz="2550" b="1">
                <a:solidFill>
                  <a:srgbClr val="182C49"/>
                </a:solidFill>
                <a:latin typeface="Arial"/>
                <a:ea typeface="Arial"/>
                <a:cs typeface="Arial"/>
              </a:rPr>
              <a:t>Environ 293 fois moins d’exemples pour l’adaptation.</a:t>
            </a:r>
          </a:p>
        </p:txBody>
      </p:sp>
      <p:sp>
        <p:nvSpPr>
          <p:cNvPr id="5" name="">
            <a:extLst xmlns:a="http://schemas.openxmlformats.org/drawingml/2006/main">
              <a:ext uri="{FF2B5EF4-FFF2-40B4-BE49-F238E27FC236}">
                <a16:creationId xmlns:a16="http://schemas.microsoft.com/office/drawing/2014/main" id="{BBAFE353-E497-42A3-9873-9A019EB20823}"/>
              </a:ext>
            </a:extLst>
          </p:cNvPr>
          <p:cNvSpPr>
            <a:spLocks xmlns:a="http://schemas.openxmlformats.org/drawingml/2006/main" noGrp="1"/>
          </p:cNvSpPr>
          <p:nvPr/>
        </p:nvSpPr>
        <p:spPr>
          <a:xfrm xmlns:a="http://schemas.openxmlformats.org/drawingml/2006/main">
            <a:off x="781050" y="58102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82C49"/>
                </a:solidFill>
                <a:latin typeface="Arial"/>
                <a:ea typeface="Arial"/>
                <a:cs typeface="Arial"/>
              </a:defRPr>
            </a:defPPr>
            <a:lvl1pPr>
              <a:defRPr sz="1950" b="0">
                <a:solidFill>
                  <a:srgbClr val="182C49"/>
                </a:solidFill>
                <a:latin typeface="Arial"/>
                <a:ea typeface="Arial"/>
                <a:cs typeface="Arial"/>
              </a:defRPr>
            </a:lvl1pPr>
            <a:lvl2pPr>
              <a:defRPr sz="1950" b="0">
                <a:solidFill>
                  <a:srgbClr val="182C49"/>
                </a:solidFill>
                <a:latin typeface="Arial"/>
                <a:ea typeface="Arial"/>
                <a:cs typeface="Arial"/>
              </a:defRPr>
            </a:lvl2pPr>
            <a:lvl3pPr>
              <a:defRPr sz="1950" b="0">
                <a:solidFill>
                  <a:srgbClr val="182C49"/>
                </a:solidFill>
                <a:latin typeface="Arial"/>
                <a:ea typeface="Arial"/>
                <a:cs typeface="Arial"/>
              </a:defRPr>
            </a:lvl3pPr>
            <a:lvl4pPr>
              <a:defRPr sz="1950" b="0">
                <a:solidFill>
                  <a:srgbClr val="182C49"/>
                </a:solidFill>
                <a:latin typeface="Arial"/>
                <a:ea typeface="Arial"/>
                <a:cs typeface="Arial"/>
              </a:defRPr>
            </a:lvl4pPr>
            <a:lvl5pPr>
              <a:defRPr sz="1950" b="0">
                <a:solidFill>
                  <a:srgbClr val="182C49"/>
                </a:solidFill>
                <a:latin typeface="Arial"/>
                <a:ea typeface="Arial"/>
                <a:cs typeface="Arial"/>
              </a:defRPr>
            </a:lvl5pPr>
            <a:lvl6pPr>
              <a:defRPr sz="1950" b="0">
                <a:solidFill>
                  <a:srgbClr val="182C49"/>
                </a:solidFill>
                <a:latin typeface="Arial"/>
                <a:ea typeface="Arial"/>
                <a:cs typeface="Arial"/>
              </a:defRPr>
            </a:lvl6pPr>
            <a:lvl7pPr>
              <a:defRPr sz="1950" b="0">
                <a:solidFill>
                  <a:srgbClr val="182C49"/>
                </a:solidFill>
                <a:latin typeface="Arial"/>
                <a:ea typeface="Arial"/>
                <a:cs typeface="Arial"/>
              </a:defRPr>
            </a:lvl7pPr>
            <a:lvl8pPr>
              <a:defRPr sz="1950" b="0">
                <a:solidFill>
                  <a:srgbClr val="182C49"/>
                </a:solidFill>
                <a:latin typeface="Arial"/>
                <a:ea typeface="Arial"/>
                <a:cs typeface="Arial"/>
              </a:defRPr>
            </a:lvl8pPr>
            <a:lvl9pPr>
              <a:defRPr sz="1950" b="0">
                <a:solidFill>
                  <a:srgbClr val="182C49"/>
                </a:solidFill>
                <a:latin typeface="Arial"/>
                <a:ea typeface="Arial"/>
                <a:cs typeface="Arial"/>
              </a:defRPr>
            </a:lvl9pPr>
          </a:lstStyle>
          <a:p xmlns:a="http://schemas.openxmlformats.org/drawingml/2006/main">
            <a:pPr>
              <a:defRPr sz="1950" b="0">
                <a:solidFill>
                  <a:srgbClr val="182C49"/>
                </a:solidFill>
                <a:latin typeface="Arial"/>
                <a:ea typeface="Arial"/>
                <a:cs typeface="Arial"/>
              </a:defRPr>
            </a:pPr>
            <a:r>
              <a:rPr sz="1950" b="0">
                <a:solidFill>
                  <a:srgbClr val="182C49"/>
                </a:solidFill>
                <a:latin typeface="Arial"/>
                <a:ea typeface="Arial"/>
                <a:cs typeface="Arial"/>
              </a:rPr>
              <a:t>SetFit ne présente pas d’avantage de vitesse dans ces mesures.</a:t>
            </a:r>
          </a:p>
        </p:txBody>
      </p:sp>
    </p:spTree>
    <p:extLst>
      <p:ext uri="{BB962C8B-B14F-4D97-AF65-F5344CB8AC3E}">
        <p14:creationId xmlns:p14="http://schemas.microsoft.com/office/powerpoint/2010/main" val="13665865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EB151C-5AAA-4DF3-A70D-4675C4DF440F}"/>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Interpréter une prédiction</a:t>
            </a:r>
          </a:p>
        </p:txBody>
      </p:sp>
      <p:sp>
        <p:nvSpPr>
          <p:cNvPr id="2" name="">
            <a:extLst xmlns:a="http://schemas.openxmlformats.org/drawingml/2006/main">
              <a:ext uri="{FF2B5EF4-FFF2-40B4-BE49-F238E27FC236}">
                <a16:creationId xmlns:a16="http://schemas.microsoft.com/office/drawing/2014/main" id="{F7D40B4C-45EE-4107-8A84-121C932D6E76}"/>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5801B798-1328-412A-8929-8C6D9BCABD32}"/>
              </a:ext>
            </a:extLst>
          </p:cNvPr>
          <p:cNvSpPr>
            <a:spLocks xmlns:a="http://schemas.openxmlformats.org/drawingml/2006/main" noGrp="1"/>
          </p:cNvSpPr>
          <p:nvPr/>
        </p:nvSpPr>
        <p:spPr>
          <a:xfrm xmlns:a="http://schemas.openxmlformats.org/drawingml/2006/main">
            <a:off x="781050" y="16668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My Favourite website is down </a:t>
            </a:r>
          </a:p>
        </p:txBody>
      </p:sp>
      <p:sp>
        <p:nvSpPr>
          <p:cNvPr id="4" name="">
            <a:extLst xmlns:a="http://schemas.openxmlformats.org/drawingml/2006/main">
              <a:ext uri="{FF2B5EF4-FFF2-40B4-BE49-F238E27FC236}">
                <a16:creationId xmlns:a16="http://schemas.microsoft.com/office/drawing/2014/main" id="{96F51097-FFFC-455F-8B74-BB919E24A155}"/>
              </a:ext>
            </a:extLst>
          </p:cNvPr>
          <p:cNvSpPr>
            <a:spLocks xmlns:a="http://schemas.openxmlformats.org/drawingml/2006/main" noGrp="1"/>
          </p:cNvSpPr>
          <p:nvPr/>
        </p:nvSpPr>
        <p:spPr>
          <a:xfrm xmlns:a="http://schemas.openxmlformats.org/drawingml/2006/main">
            <a:off x="781050" y="25717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C49"/>
                </a:solidFill>
                <a:latin typeface="Arial"/>
                <a:ea typeface="Arial"/>
                <a:cs typeface="Arial"/>
              </a:defRPr>
            </a:defPPr>
            <a:lvl1pPr>
              <a:defRPr sz="2025" b="0">
                <a:solidFill>
                  <a:srgbClr val="182C49"/>
                </a:solidFill>
                <a:latin typeface="Arial"/>
                <a:ea typeface="Arial"/>
                <a:cs typeface="Arial"/>
              </a:defRPr>
            </a:lvl1pPr>
            <a:lvl2pPr>
              <a:defRPr sz="2025" b="0">
                <a:solidFill>
                  <a:srgbClr val="182C49"/>
                </a:solidFill>
                <a:latin typeface="Arial"/>
                <a:ea typeface="Arial"/>
                <a:cs typeface="Arial"/>
              </a:defRPr>
            </a:lvl2pPr>
            <a:lvl3pPr>
              <a:defRPr sz="2025" b="0">
                <a:solidFill>
                  <a:srgbClr val="182C49"/>
                </a:solidFill>
                <a:latin typeface="Arial"/>
                <a:ea typeface="Arial"/>
                <a:cs typeface="Arial"/>
              </a:defRPr>
            </a:lvl3pPr>
            <a:lvl4pPr>
              <a:defRPr sz="2025" b="0">
                <a:solidFill>
                  <a:srgbClr val="182C49"/>
                </a:solidFill>
                <a:latin typeface="Arial"/>
                <a:ea typeface="Arial"/>
                <a:cs typeface="Arial"/>
              </a:defRPr>
            </a:lvl4pPr>
            <a:lvl5pPr>
              <a:defRPr sz="2025" b="0">
                <a:solidFill>
                  <a:srgbClr val="182C49"/>
                </a:solidFill>
                <a:latin typeface="Arial"/>
                <a:ea typeface="Arial"/>
                <a:cs typeface="Arial"/>
              </a:defRPr>
            </a:lvl5pPr>
            <a:lvl6pPr>
              <a:defRPr sz="2025" b="0">
                <a:solidFill>
                  <a:srgbClr val="182C49"/>
                </a:solidFill>
                <a:latin typeface="Arial"/>
                <a:ea typeface="Arial"/>
                <a:cs typeface="Arial"/>
              </a:defRPr>
            </a:lvl6pPr>
            <a:lvl7pPr>
              <a:defRPr sz="2025" b="0">
                <a:solidFill>
                  <a:srgbClr val="182C49"/>
                </a:solidFill>
                <a:latin typeface="Arial"/>
                <a:ea typeface="Arial"/>
                <a:cs typeface="Arial"/>
              </a:defRPr>
            </a:lvl7pPr>
            <a:lvl8pPr>
              <a:defRPr sz="2025" b="0">
                <a:solidFill>
                  <a:srgbClr val="182C49"/>
                </a:solidFill>
                <a:latin typeface="Arial"/>
                <a:ea typeface="Arial"/>
                <a:cs typeface="Arial"/>
              </a:defRPr>
            </a:lvl8pPr>
            <a:lvl9pPr>
              <a:defRPr sz="2025" b="0">
                <a:solidFill>
                  <a:srgbClr val="182C49"/>
                </a:solidFill>
                <a:latin typeface="Arial"/>
                <a:ea typeface="Arial"/>
                <a:cs typeface="Arial"/>
              </a:defRPr>
            </a:lvl9pPr>
          </a:lstStyle>
          <a:p xmlns:a="http://schemas.openxmlformats.org/drawingml/2006/main">
            <a:pPr>
              <a:defRPr sz="2025" b="0">
                <a:solidFill>
                  <a:srgbClr val="182C49"/>
                </a:solidFill>
                <a:latin typeface="Arial"/>
                <a:ea typeface="Arial"/>
                <a:cs typeface="Arial"/>
              </a:defRPr>
            </a:pPr>
            <a:r>
              <a:rPr sz="2025" b="0">
                <a:solidFill>
                  <a:srgbClr val="182C49"/>
                </a:solidFill>
                <a:latin typeface="Arial"/>
                <a:ea typeface="Arial"/>
                <a:cs typeface="Arial"/>
              </a:rPr>
              <a:t>Retirer un mot, puis comparer la probabilité du sentiment positif.</a:t>
            </a:r>
          </a:p>
        </p:txBody>
      </p:sp>
      <p:graphicFrame>
        <p:nvGraphicFramePr>
          <p:cNvPr id="5" name="">
            <a:extLst xmlns:a="http://schemas.openxmlformats.org/drawingml/2006/main">
              <a:ext uri="{FF2B5EF4-FFF2-40B4-BE49-F238E27FC236}">
                <a16:creationId xmlns:a16="http://schemas.microsoft.com/office/drawing/2014/main" id="{9C9EE4B6-0B5E-4DBB-BE5E-5F925C1FF65E}"/>
              </a:ext>
            </a:extLst>
          </p:cNvPr>
          <p:cNvGraphicFramePr/>
          <p:nvPr/>
        </p:nvGraphicFramePr>
        <p:xfrm>
          <a:off xmlns:a="http://schemas.openxmlformats.org/drawingml/2006/main" x="762000" y="3333750"/>
          <a:ext xmlns:a="http://schemas.openxmlformats.org/drawingml/2006/main" cx="10668000" cy="2000250"/>
        </p:xfrm>
        <a:graphic xmlns:a="http://schemas.openxmlformats.org/drawingml/2006/main">
          <a:graphicData uri="http://schemas.openxmlformats.org/drawingml/2006/table">
            <a:tbl>
              <a:tblPr/>
              <a:tblGrid>
                <a:gridCol w="5429250"/>
                <a:gridCol w="5238750"/>
              </a:tblGrid>
              <a:tr h="500063">
                <a:tc>
                  <a:txBody>
                    <a:bodyPr/>
                    <a:lstStyle/>
                    <a:p>
                      <a:r>
                        <a:rPr sz="1875" b="1">
                          <a:solidFill>
                            <a:srgbClr val="182C49"/>
                          </a:solidFill>
                          <a:latin typeface="Arial"/>
                          <a:ea typeface="Arial"/>
                          <a:cs typeface="Arial"/>
                        </a:rPr>
                        <a:t>Mot retiré</a:t>
                      </a:r>
                    </a:p>
                  </a:txBody>
                  <a:tcPr marL="114300" marR="114300" marT="114300" marB="114300">
                    <a:lnL w="9525">
                      <a:solidFill>
                        <a:srgbClr val="D6DCE4"/>
                      </a:solidFill>
                      <a:prstDash val="solid"/>
                    </a:lnL>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c>
                  <a:txBody>
                    <a:bodyPr/>
                    <a:lstStyle/>
                    <a:p>
                      <a:r>
                        <a:rPr sz="1875" b="1">
                          <a:solidFill>
                            <a:srgbClr val="182C49"/>
                          </a:solidFill>
                          <a:latin typeface="Arial"/>
                          <a:ea typeface="Arial"/>
                          <a:cs typeface="Arial"/>
                        </a:rPr>
                        <a:t>Variation de P positif</a:t>
                      </a:r>
                    </a:p>
                  </a:txBody>
                  <a:tcPr marL="114300" marR="114300" marT="114300" marB="114300">
                    <a:lnR w="9525">
                      <a:solidFill>
                        <a:srgbClr val="D6DCE4"/>
                      </a:solidFill>
                      <a:prstDash val="solid"/>
                    </a:lnR>
                    <a:lnT w="9525">
                      <a:solidFill>
                        <a:srgbClr val="D6DCE4"/>
                      </a:solidFill>
                      <a:prstDash val="solid"/>
                    </a:lnT>
                    <a:lnB w="9525">
                      <a:solidFill>
                        <a:srgbClr val="D6DCE4"/>
                      </a:solidFill>
                      <a:prstDash val="solid"/>
                    </a:lnB>
                    <a:solidFill>
                      <a:srgbClr val="E8EEF4"/>
                    </a:solidFill>
                  </a:tcPr>
                </a:tc>
              </a:tr>
              <a:tr h="500063">
                <a:tc>
                  <a:txBody>
                    <a:bodyPr/>
                    <a:lstStyle/>
                    <a:p>
                      <a:r>
                        <a:rPr sz="1875">
                          <a:solidFill>
                            <a:srgbClr val="182C49"/>
                          </a:solidFill>
                          <a:latin typeface="Arial"/>
                          <a:ea typeface="Arial"/>
                          <a:cs typeface="Arial"/>
                        </a:rPr>
                        <a:t>down</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-0,9961</a:t>
                      </a:r>
                    </a:p>
                  </a:txBody>
                  <a:tcPr marL="114300" marR="114300" marT="114300" marB="114300">
                    <a:lnR w="9525">
                      <a:solidFill>
                        <a:srgbClr val="D6DCE4"/>
                      </a:solidFill>
                      <a:prstDash val="solid"/>
                    </a:lnR>
                    <a:lnB w="9525">
                      <a:solidFill>
                        <a:srgbClr val="D6DCE4"/>
                      </a:solidFill>
                      <a:prstDash val="solid"/>
                    </a:lnB>
                  </a:tcPr>
                </a:tc>
              </a:tr>
              <a:tr h="500063">
                <a:tc>
                  <a:txBody>
                    <a:bodyPr/>
                    <a:lstStyle/>
                    <a:p>
                      <a:r>
                        <a:rPr sz="1875">
                          <a:solidFill>
                            <a:srgbClr val="182C49"/>
                          </a:solidFill>
                          <a:latin typeface="Arial"/>
                          <a:ea typeface="Arial"/>
                          <a:cs typeface="Arial"/>
                        </a:rPr>
                        <a:t>website</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-0,9959</a:t>
                      </a:r>
                    </a:p>
                  </a:txBody>
                  <a:tcPr marL="114300" marR="114300" marT="114300" marB="114300">
                    <a:lnR w="9525">
                      <a:solidFill>
                        <a:srgbClr val="D6DCE4"/>
                      </a:solidFill>
                      <a:prstDash val="solid"/>
                    </a:lnR>
                    <a:lnB w="9525">
                      <a:solidFill>
                        <a:srgbClr val="D6DCE4"/>
                      </a:solidFill>
                      <a:prstDash val="solid"/>
                    </a:lnB>
                  </a:tcPr>
                </a:tc>
              </a:tr>
              <a:tr h="500063">
                <a:tc>
                  <a:txBody>
                    <a:bodyPr/>
                    <a:lstStyle/>
                    <a:p>
                      <a:r>
                        <a:rPr sz="1875">
                          <a:solidFill>
                            <a:srgbClr val="182C49"/>
                          </a:solidFill>
                          <a:latin typeface="Arial"/>
                          <a:ea typeface="Arial"/>
                          <a:cs typeface="Arial"/>
                        </a:rPr>
                        <a:t>is</a:t>
                      </a:r>
                    </a:p>
                  </a:txBody>
                  <a:tcPr marL="114300" marR="114300" marT="114300" marB="114300">
                    <a:lnL w="9525">
                      <a:solidFill>
                        <a:srgbClr val="D6DCE4"/>
                      </a:solidFill>
                      <a:prstDash val="solid"/>
                    </a:lnL>
                    <a:lnR w="9525">
                      <a:solidFill>
                        <a:srgbClr val="D6DCE4"/>
                      </a:solidFill>
                      <a:prstDash val="solid"/>
                    </a:lnR>
                    <a:lnB w="9525">
                      <a:solidFill>
                        <a:srgbClr val="D6DCE4"/>
                      </a:solidFill>
                      <a:prstDash val="solid"/>
                    </a:lnB>
                  </a:tcPr>
                </a:tc>
                <a:tc>
                  <a:txBody>
                    <a:bodyPr/>
                    <a:lstStyle/>
                    <a:p>
                      <a:r>
                        <a:rPr sz="1875">
                          <a:solidFill>
                            <a:srgbClr val="182C49"/>
                          </a:solidFill>
                          <a:latin typeface="Arial"/>
                          <a:ea typeface="Arial"/>
                          <a:cs typeface="Arial"/>
                        </a:rPr>
                        <a:t>-0,0085</a:t>
                      </a:r>
                    </a:p>
                  </a:txBody>
                  <a:tcPr marL="114300" marR="114300" marT="114300" marB="114300">
                    <a:lnR w="9525">
                      <a:solidFill>
                        <a:srgbClr val="D6DCE4"/>
                      </a:solidFill>
                      <a:prstDash val="solid"/>
                    </a:lnR>
                    <a:lnB w="9525">
                      <a:solidFill>
                        <a:srgbClr val="D6DCE4"/>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D39D7DC5-2D0B-4081-9583-C28E0C6AE8BD}"/>
              </a:ext>
            </a:extLst>
          </p:cNvPr>
          <p:cNvSpPr>
            <a:spLocks xmlns:a="http://schemas.openxmlformats.org/drawingml/2006/main" noGrp="1"/>
          </p:cNvSpPr>
          <p:nvPr/>
        </p:nvSpPr>
        <p:spPr>
          <a:xfrm xmlns:a="http://schemas.openxmlformats.org/drawingml/2006/main">
            <a:off x="781050" y="557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C49"/>
                </a:solidFill>
                <a:latin typeface="Arial"/>
                <a:ea typeface="Arial"/>
                <a:cs typeface="Arial"/>
              </a:defRPr>
            </a:defPPr>
            <a:lvl1pPr>
              <a:defRPr sz="2025" b="0">
                <a:solidFill>
                  <a:srgbClr val="182C49"/>
                </a:solidFill>
                <a:latin typeface="Arial"/>
                <a:ea typeface="Arial"/>
                <a:cs typeface="Arial"/>
              </a:defRPr>
            </a:lvl1pPr>
            <a:lvl2pPr>
              <a:defRPr sz="2025" b="0">
                <a:solidFill>
                  <a:srgbClr val="182C49"/>
                </a:solidFill>
                <a:latin typeface="Arial"/>
                <a:ea typeface="Arial"/>
                <a:cs typeface="Arial"/>
              </a:defRPr>
            </a:lvl2pPr>
            <a:lvl3pPr>
              <a:defRPr sz="2025" b="0">
                <a:solidFill>
                  <a:srgbClr val="182C49"/>
                </a:solidFill>
                <a:latin typeface="Arial"/>
                <a:ea typeface="Arial"/>
                <a:cs typeface="Arial"/>
              </a:defRPr>
            </a:lvl3pPr>
            <a:lvl4pPr>
              <a:defRPr sz="2025" b="0">
                <a:solidFill>
                  <a:srgbClr val="182C49"/>
                </a:solidFill>
                <a:latin typeface="Arial"/>
                <a:ea typeface="Arial"/>
                <a:cs typeface="Arial"/>
              </a:defRPr>
            </a:lvl4pPr>
            <a:lvl5pPr>
              <a:defRPr sz="2025" b="0">
                <a:solidFill>
                  <a:srgbClr val="182C49"/>
                </a:solidFill>
                <a:latin typeface="Arial"/>
                <a:ea typeface="Arial"/>
                <a:cs typeface="Arial"/>
              </a:defRPr>
            </a:lvl5pPr>
            <a:lvl6pPr>
              <a:defRPr sz="2025" b="0">
                <a:solidFill>
                  <a:srgbClr val="182C49"/>
                </a:solidFill>
                <a:latin typeface="Arial"/>
                <a:ea typeface="Arial"/>
                <a:cs typeface="Arial"/>
              </a:defRPr>
            </a:lvl6pPr>
            <a:lvl7pPr>
              <a:defRPr sz="2025" b="0">
                <a:solidFill>
                  <a:srgbClr val="182C49"/>
                </a:solidFill>
                <a:latin typeface="Arial"/>
                <a:ea typeface="Arial"/>
                <a:cs typeface="Arial"/>
              </a:defRPr>
            </a:lvl7pPr>
            <a:lvl8pPr>
              <a:defRPr sz="2025" b="0">
                <a:solidFill>
                  <a:srgbClr val="182C49"/>
                </a:solidFill>
                <a:latin typeface="Arial"/>
                <a:ea typeface="Arial"/>
                <a:cs typeface="Arial"/>
              </a:defRPr>
            </a:lvl8pPr>
            <a:lvl9pPr>
              <a:defRPr sz="2025" b="0">
                <a:solidFill>
                  <a:srgbClr val="182C49"/>
                </a:solidFill>
                <a:latin typeface="Arial"/>
                <a:ea typeface="Arial"/>
                <a:cs typeface="Arial"/>
              </a:defRPr>
            </a:lvl9pPr>
          </a:lstStyle>
          <a:p xmlns:a="http://schemas.openxmlformats.org/drawingml/2006/main">
            <a:pPr>
              <a:defRPr sz="2025" b="0">
                <a:solidFill>
                  <a:srgbClr val="182C49"/>
                </a:solidFill>
                <a:latin typeface="Arial"/>
                <a:ea typeface="Arial"/>
                <a:cs typeface="Arial"/>
              </a:defRPr>
            </a:pPr>
            <a:r>
              <a:rPr sz="2025" b="0">
                <a:solidFill>
                  <a:srgbClr val="182C49"/>
                </a:solidFill>
                <a:latin typeface="Arial"/>
                <a:ea typeface="Arial"/>
                <a:cs typeface="Arial"/>
              </a:rPr>
              <a:t>Dans cette phrase, down contribue à la décision négative.</a:t>
            </a:r>
          </a:p>
          <a:p xmlns:a="http://schemas.openxmlformats.org/drawingml/2006/main">
            <a:pPr>
              <a:defRPr sz="2025" b="0">
                <a:solidFill>
                  <a:srgbClr val="182C49"/>
                </a:solidFill>
                <a:latin typeface="Arial"/>
                <a:ea typeface="Arial"/>
                <a:cs typeface="Arial"/>
              </a:defRPr>
            </a:pPr>
            <a:r>
              <a:rPr sz="2025" b="0">
                <a:solidFill>
                  <a:srgbClr val="182C49"/>
                </a:solidFill>
                <a:latin typeface="Arial"/>
                <a:ea typeface="Arial"/>
                <a:cs typeface="Arial"/>
              </a:rPr>
              <a:t>L’effet reste lié au contexte et ne mesure pas une causalité.</a:t>
            </a:r>
          </a:p>
        </p:txBody>
      </p:sp>
    </p:spTree>
    <p:extLst>
      <p:ext uri="{BB962C8B-B14F-4D97-AF65-F5344CB8AC3E}">
        <p14:creationId xmlns:p14="http://schemas.microsoft.com/office/powerpoint/2010/main" val="40358710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D3F4BE-2308-4E05-A420-E1EADB3E97E1}"/>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Un dashboard simple et accessible</a:t>
            </a:r>
          </a:p>
        </p:txBody>
      </p:sp>
      <p:sp>
        <p:nvSpPr>
          <p:cNvPr id="2" name="">
            <a:extLst xmlns:a="http://schemas.openxmlformats.org/drawingml/2006/main">
              <a:ext uri="{FF2B5EF4-FFF2-40B4-BE49-F238E27FC236}">
                <a16:creationId xmlns:a16="http://schemas.microsoft.com/office/drawing/2014/main" id="{D10D64D6-126A-42BF-B528-68F44E0A7742}"/>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ACAEF03F-8C8F-482E-94DB-4221B9D3D5E6}"/>
              </a:ext>
            </a:extLst>
          </p:cNvPr>
          <p:cNvSpPr>
            <a:spLocks xmlns:a="http://schemas.openxmlformats.org/drawingml/2006/main" noGrp="1"/>
          </p:cNvSpPr>
          <p:nvPr/>
        </p:nvSpPr>
        <p:spPr>
          <a:xfrm xmlns:a="http://schemas.openxmlformats.org/drawingml/2006/main">
            <a:off x="781050" y="17145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Explorer les données, tester un message, comparer les modèles.</a:t>
            </a:r>
          </a:p>
        </p:txBody>
      </p:sp>
      <p:sp>
        <p:nvSpPr>
          <p:cNvPr id="4" name="">
            <a:extLst xmlns:a="http://schemas.openxmlformats.org/drawingml/2006/main">
              <a:ext uri="{FF2B5EF4-FFF2-40B4-BE49-F238E27FC236}">
                <a16:creationId xmlns:a16="http://schemas.microsoft.com/office/drawing/2014/main" id="{EDF0BE17-1159-40B0-A6DC-12F22B3B3553}"/>
              </a:ext>
            </a:extLst>
          </p:cNvPr>
          <p:cNvSpPr>
            <a:spLocks xmlns:a="http://schemas.openxmlformats.org/drawingml/2006/main" noGrp="1"/>
          </p:cNvSpPr>
          <p:nvPr/>
        </p:nvSpPr>
        <p:spPr>
          <a:xfrm xmlns:a="http://schemas.openxmlformats.org/drawingml/2006/main">
            <a:off x="781050" y="27622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Descriptions, tableaux et motifs en complément des couleurs.</a:t>
            </a:r>
          </a:p>
        </p:txBody>
      </p:sp>
      <p:sp>
        <p:nvSpPr>
          <p:cNvPr id="5" name="">
            <a:extLst xmlns:a="http://schemas.openxmlformats.org/drawingml/2006/main">
              <a:ext uri="{FF2B5EF4-FFF2-40B4-BE49-F238E27FC236}">
                <a16:creationId xmlns:a16="http://schemas.microsoft.com/office/drawing/2014/main" id="{2FAED7CC-CE00-4103-AE58-1D03D178BF3A}"/>
              </a:ext>
            </a:extLst>
          </p:cNvPr>
          <p:cNvSpPr>
            <a:spLocks xmlns:a="http://schemas.openxmlformats.org/drawingml/2006/main" noGrp="1"/>
          </p:cNvSpPr>
          <p:nvPr/>
        </p:nvSpPr>
        <p:spPr>
          <a:xfrm xmlns:a="http://schemas.openxmlformats.org/drawingml/2006/main">
            <a:off x="781050" y="38100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Texte lisible, contraste renforcé et affichage au zoom à 200 %.</a:t>
            </a:r>
          </a:p>
        </p:txBody>
      </p:sp>
      <p:sp>
        <p:nvSpPr>
          <p:cNvPr id="6" name="">
            <a:extLst xmlns:a="http://schemas.openxmlformats.org/drawingml/2006/main">
              <a:ext uri="{FF2B5EF4-FFF2-40B4-BE49-F238E27FC236}">
                <a16:creationId xmlns:a16="http://schemas.microsoft.com/office/drawing/2014/main" id="{BDC54EAD-EA98-4520-B8F2-A927538BB846}"/>
              </a:ext>
            </a:extLst>
          </p:cNvPr>
          <p:cNvSpPr>
            <a:spLocks xmlns:a="http://schemas.openxmlformats.org/drawingml/2006/main" noGrp="1"/>
          </p:cNvSpPr>
          <p:nvPr/>
        </p:nvSpPr>
        <p:spPr>
          <a:xfrm xmlns:a="http://schemas.openxmlformats.org/drawingml/2006/main">
            <a:off x="781050" y="48577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Titre de page explicite et texte alternatif du nuage de mots.</a:t>
            </a:r>
          </a:p>
        </p:txBody>
      </p:sp>
    </p:spTree>
    <p:extLst>
      <p:ext uri="{BB962C8B-B14F-4D97-AF65-F5344CB8AC3E}">
        <p14:creationId xmlns:p14="http://schemas.microsoft.com/office/powerpoint/2010/main" val="17965224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A191EE-8F16-4137-BFB5-18DBF2E1CFD3}"/>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Démonstration du dashboard</a:t>
            </a:r>
          </a:p>
        </p:txBody>
      </p:sp>
      <p:sp>
        <p:nvSpPr>
          <p:cNvPr id="2" name="">
            <a:extLst xmlns:a="http://schemas.openxmlformats.org/drawingml/2006/main">
              <a:ext uri="{FF2B5EF4-FFF2-40B4-BE49-F238E27FC236}">
                <a16:creationId xmlns:a16="http://schemas.microsoft.com/office/drawing/2014/main" id="{0612AAED-7969-4BBB-A024-0102620918A9}"/>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A48F4BA4-A167-4CE5-9AEB-62710BA620EE}"/>
              </a:ext>
            </a:extLst>
          </p:cNvPr>
          <p:cNvSpPr>
            <a:spLocks xmlns:a="http://schemas.openxmlformats.org/drawingml/2006/main" noGrp="1"/>
          </p:cNvSpPr>
          <p:nvPr/>
        </p:nvSpPr>
        <p:spPr>
          <a:xfrm xmlns:a="http://schemas.openxmlformats.org/drawingml/2006/main">
            <a:off x="781050" y="17145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C49"/>
                </a:solidFill>
                <a:latin typeface="Arial"/>
                <a:ea typeface="Arial"/>
                <a:cs typeface="Arial"/>
              </a:defRPr>
            </a:defPPr>
            <a:lvl1pPr>
              <a:defRPr sz="2250" b="0">
                <a:solidFill>
                  <a:srgbClr val="182C49"/>
                </a:solidFill>
                <a:latin typeface="Arial"/>
                <a:ea typeface="Arial"/>
                <a:cs typeface="Arial"/>
              </a:defRPr>
            </a:lvl1pPr>
            <a:lvl2pPr>
              <a:defRPr sz="2250" b="0">
                <a:solidFill>
                  <a:srgbClr val="182C49"/>
                </a:solidFill>
                <a:latin typeface="Arial"/>
                <a:ea typeface="Arial"/>
                <a:cs typeface="Arial"/>
              </a:defRPr>
            </a:lvl2pPr>
            <a:lvl3pPr>
              <a:defRPr sz="2250" b="0">
                <a:solidFill>
                  <a:srgbClr val="182C49"/>
                </a:solidFill>
                <a:latin typeface="Arial"/>
                <a:ea typeface="Arial"/>
                <a:cs typeface="Arial"/>
              </a:defRPr>
            </a:lvl3pPr>
            <a:lvl4pPr>
              <a:defRPr sz="2250" b="0">
                <a:solidFill>
                  <a:srgbClr val="182C49"/>
                </a:solidFill>
                <a:latin typeface="Arial"/>
                <a:ea typeface="Arial"/>
                <a:cs typeface="Arial"/>
              </a:defRPr>
            </a:lvl4pPr>
            <a:lvl5pPr>
              <a:defRPr sz="2250" b="0">
                <a:solidFill>
                  <a:srgbClr val="182C49"/>
                </a:solidFill>
                <a:latin typeface="Arial"/>
                <a:ea typeface="Arial"/>
                <a:cs typeface="Arial"/>
              </a:defRPr>
            </a:lvl5pPr>
            <a:lvl6pPr>
              <a:defRPr sz="2250" b="0">
                <a:solidFill>
                  <a:srgbClr val="182C49"/>
                </a:solidFill>
                <a:latin typeface="Arial"/>
                <a:ea typeface="Arial"/>
                <a:cs typeface="Arial"/>
              </a:defRPr>
            </a:lvl6pPr>
            <a:lvl7pPr>
              <a:defRPr sz="2250" b="0">
                <a:solidFill>
                  <a:srgbClr val="182C49"/>
                </a:solidFill>
                <a:latin typeface="Arial"/>
                <a:ea typeface="Arial"/>
                <a:cs typeface="Arial"/>
              </a:defRPr>
            </a:lvl7pPr>
            <a:lvl8pPr>
              <a:defRPr sz="2250" b="0">
                <a:solidFill>
                  <a:srgbClr val="182C49"/>
                </a:solidFill>
                <a:latin typeface="Arial"/>
                <a:ea typeface="Arial"/>
                <a:cs typeface="Arial"/>
              </a:defRPr>
            </a:lvl8pPr>
            <a:lvl9pPr>
              <a:defRPr sz="2250" b="0">
                <a:solidFill>
                  <a:srgbClr val="182C49"/>
                </a:solidFill>
                <a:latin typeface="Arial"/>
                <a:ea typeface="Arial"/>
                <a:cs typeface="Arial"/>
              </a:defRPr>
            </a:lvl9pPr>
          </a:lstStyle>
          <a:p xmlns:a="http://schemas.openxmlformats.org/drawingml/2006/main">
            <a:pPr>
              <a:defRPr sz="2250" b="0">
                <a:solidFill>
                  <a:srgbClr val="182C49"/>
                </a:solidFill>
                <a:latin typeface="Arial"/>
                <a:ea typeface="Arial"/>
                <a:cs typeface="Arial"/>
              </a:defRPr>
            </a:pPr>
            <a:r>
              <a:rPr sz="2250" b="0">
                <a:solidFill>
                  <a:srgbClr val="182C49"/>
                </a:solidFill>
                <a:latin typeface="Arial"/>
                <a:ea typeface="Arial"/>
                <a:cs typeface="Arial"/>
              </a:rPr>
              <a:t>1. Filtrer les sentiments et survoler les graphiques.</a:t>
            </a:r>
          </a:p>
        </p:txBody>
      </p:sp>
      <p:sp>
        <p:nvSpPr>
          <p:cNvPr id="4" name="">
            <a:extLst xmlns:a="http://schemas.openxmlformats.org/drawingml/2006/main">
              <a:ext uri="{FF2B5EF4-FFF2-40B4-BE49-F238E27FC236}">
                <a16:creationId xmlns:a16="http://schemas.microsoft.com/office/drawing/2014/main" id="{C30471CC-A347-4A8A-855D-B2781F5F3251}"/>
              </a:ext>
            </a:extLst>
          </p:cNvPr>
          <p:cNvSpPr>
            <a:spLocks xmlns:a="http://schemas.openxmlformats.org/drawingml/2006/main" noGrp="1"/>
          </p:cNvSpPr>
          <p:nvPr/>
        </p:nvSpPr>
        <p:spPr>
          <a:xfrm xmlns:a="http://schemas.openxmlformats.org/drawingml/2006/main">
            <a:off x="781050" y="27622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C49"/>
                </a:solidFill>
                <a:latin typeface="Arial"/>
                <a:ea typeface="Arial"/>
                <a:cs typeface="Arial"/>
              </a:defRPr>
            </a:defPPr>
            <a:lvl1pPr>
              <a:defRPr sz="2250" b="0">
                <a:solidFill>
                  <a:srgbClr val="182C49"/>
                </a:solidFill>
                <a:latin typeface="Arial"/>
                <a:ea typeface="Arial"/>
                <a:cs typeface="Arial"/>
              </a:defRPr>
            </a:lvl1pPr>
            <a:lvl2pPr>
              <a:defRPr sz="2250" b="0">
                <a:solidFill>
                  <a:srgbClr val="182C49"/>
                </a:solidFill>
                <a:latin typeface="Arial"/>
                <a:ea typeface="Arial"/>
                <a:cs typeface="Arial"/>
              </a:defRPr>
            </a:lvl2pPr>
            <a:lvl3pPr>
              <a:defRPr sz="2250" b="0">
                <a:solidFill>
                  <a:srgbClr val="182C49"/>
                </a:solidFill>
                <a:latin typeface="Arial"/>
                <a:ea typeface="Arial"/>
                <a:cs typeface="Arial"/>
              </a:defRPr>
            </a:lvl3pPr>
            <a:lvl4pPr>
              <a:defRPr sz="2250" b="0">
                <a:solidFill>
                  <a:srgbClr val="182C49"/>
                </a:solidFill>
                <a:latin typeface="Arial"/>
                <a:ea typeface="Arial"/>
                <a:cs typeface="Arial"/>
              </a:defRPr>
            </a:lvl4pPr>
            <a:lvl5pPr>
              <a:defRPr sz="2250" b="0">
                <a:solidFill>
                  <a:srgbClr val="182C49"/>
                </a:solidFill>
                <a:latin typeface="Arial"/>
                <a:ea typeface="Arial"/>
                <a:cs typeface="Arial"/>
              </a:defRPr>
            </a:lvl5pPr>
            <a:lvl6pPr>
              <a:defRPr sz="2250" b="0">
                <a:solidFill>
                  <a:srgbClr val="182C49"/>
                </a:solidFill>
                <a:latin typeface="Arial"/>
                <a:ea typeface="Arial"/>
                <a:cs typeface="Arial"/>
              </a:defRPr>
            </a:lvl6pPr>
            <a:lvl7pPr>
              <a:defRPr sz="2250" b="0">
                <a:solidFill>
                  <a:srgbClr val="182C49"/>
                </a:solidFill>
                <a:latin typeface="Arial"/>
                <a:ea typeface="Arial"/>
                <a:cs typeface="Arial"/>
              </a:defRPr>
            </a:lvl7pPr>
            <a:lvl8pPr>
              <a:defRPr sz="2250" b="0">
                <a:solidFill>
                  <a:srgbClr val="182C49"/>
                </a:solidFill>
                <a:latin typeface="Arial"/>
                <a:ea typeface="Arial"/>
                <a:cs typeface="Arial"/>
              </a:defRPr>
            </a:lvl8pPr>
            <a:lvl9pPr>
              <a:defRPr sz="2250" b="0">
                <a:solidFill>
                  <a:srgbClr val="182C49"/>
                </a:solidFill>
                <a:latin typeface="Arial"/>
                <a:ea typeface="Arial"/>
                <a:cs typeface="Arial"/>
              </a:defRPr>
            </a:lvl9pPr>
          </a:lstStyle>
          <a:p xmlns:a="http://schemas.openxmlformats.org/drawingml/2006/main">
            <a:pPr>
              <a:defRPr sz="2250" b="0">
                <a:solidFill>
                  <a:srgbClr val="182C49"/>
                </a:solidFill>
                <a:latin typeface="Arial"/>
                <a:ea typeface="Arial"/>
                <a:cs typeface="Arial"/>
              </a:defRPr>
            </a:pPr>
            <a:r>
              <a:rPr sz="2250" b="0">
                <a:solidFill>
                  <a:srgbClr val="182C49"/>
                </a:solidFill>
                <a:latin typeface="Arial"/>
                <a:ea typeface="Arial"/>
                <a:cs typeface="Arial"/>
              </a:rPr>
              <a:t>2. Tester un message positif puis un message négatif.</a:t>
            </a:r>
          </a:p>
        </p:txBody>
      </p:sp>
      <p:sp>
        <p:nvSpPr>
          <p:cNvPr id="5" name="">
            <a:extLst xmlns:a="http://schemas.openxmlformats.org/drawingml/2006/main">
              <a:ext uri="{FF2B5EF4-FFF2-40B4-BE49-F238E27FC236}">
                <a16:creationId xmlns:a16="http://schemas.microsoft.com/office/drawing/2014/main" id="{03AE7781-E0D0-459D-BBCA-F7087ABA0194}"/>
              </a:ext>
            </a:extLst>
          </p:cNvPr>
          <p:cNvSpPr>
            <a:spLocks xmlns:a="http://schemas.openxmlformats.org/drawingml/2006/main" noGrp="1"/>
          </p:cNvSpPr>
          <p:nvPr/>
        </p:nvSpPr>
        <p:spPr>
          <a:xfrm xmlns:a="http://schemas.openxmlformats.org/drawingml/2006/main">
            <a:off x="781050" y="38100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C49"/>
                </a:solidFill>
                <a:latin typeface="Arial"/>
                <a:ea typeface="Arial"/>
                <a:cs typeface="Arial"/>
              </a:defRPr>
            </a:defPPr>
            <a:lvl1pPr>
              <a:defRPr sz="2250" b="0">
                <a:solidFill>
                  <a:srgbClr val="182C49"/>
                </a:solidFill>
                <a:latin typeface="Arial"/>
                <a:ea typeface="Arial"/>
                <a:cs typeface="Arial"/>
              </a:defRPr>
            </a:lvl1pPr>
            <a:lvl2pPr>
              <a:defRPr sz="2250" b="0">
                <a:solidFill>
                  <a:srgbClr val="182C49"/>
                </a:solidFill>
                <a:latin typeface="Arial"/>
                <a:ea typeface="Arial"/>
                <a:cs typeface="Arial"/>
              </a:defRPr>
            </a:lvl2pPr>
            <a:lvl3pPr>
              <a:defRPr sz="2250" b="0">
                <a:solidFill>
                  <a:srgbClr val="182C49"/>
                </a:solidFill>
                <a:latin typeface="Arial"/>
                <a:ea typeface="Arial"/>
                <a:cs typeface="Arial"/>
              </a:defRPr>
            </a:lvl3pPr>
            <a:lvl4pPr>
              <a:defRPr sz="2250" b="0">
                <a:solidFill>
                  <a:srgbClr val="182C49"/>
                </a:solidFill>
                <a:latin typeface="Arial"/>
                <a:ea typeface="Arial"/>
                <a:cs typeface="Arial"/>
              </a:defRPr>
            </a:lvl4pPr>
            <a:lvl5pPr>
              <a:defRPr sz="2250" b="0">
                <a:solidFill>
                  <a:srgbClr val="182C49"/>
                </a:solidFill>
                <a:latin typeface="Arial"/>
                <a:ea typeface="Arial"/>
                <a:cs typeface="Arial"/>
              </a:defRPr>
            </a:lvl5pPr>
            <a:lvl6pPr>
              <a:defRPr sz="2250" b="0">
                <a:solidFill>
                  <a:srgbClr val="182C49"/>
                </a:solidFill>
                <a:latin typeface="Arial"/>
                <a:ea typeface="Arial"/>
                <a:cs typeface="Arial"/>
              </a:defRPr>
            </a:lvl6pPr>
            <a:lvl7pPr>
              <a:defRPr sz="2250" b="0">
                <a:solidFill>
                  <a:srgbClr val="182C49"/>
                </a:solidFill>
                <a:latin typeface="Arial"/>
                <a:ea typeface="Arial"/>
                <a:cs typeface="Arial"/>
              </a:defRPr>
            </a:lvl7pPr>
            <a:lvl8pPr>
              <a:defRPr sz="2250" b="0">
                <a:solidFill>
                  <a:srgbClr val="182C49"/>
                </a:solidFill>
                <a:latin typeface="Arial"/>
                <a:ea typeface="Arial"/>
                <a:cs typeface="Arial"/>
              </a:defRPr>
            </a:lvl8pPr>
            <a:lvl9pPr>
              <a:defRPr sz="2250" b="0">
                <a:solidFill>
                  <a:srgbClr val="182C49"/>
                </a:solidFill>
                <a:latin typeface="Arial"/>
                <a:ea typeface="Arial"/>
                <a:cs typeface="Arial"/>
              </a:defRPr>
            </a:lvl9pPr>
          </a:lstStyle>
          <a:p xmlns:a="http://schemas.openxmlformats.org/drawingml/2006/main">
            <a:pPr>
              <a:defRPr sz="2250" b="0">
                <a:solidFill>
                  <a:srgbClr val="182C49"/>
                </a:solidFill>
                <a:latin typeface="Arial"/>
                <a:ea typeface="Arial"/>
                <a:cs typeface="Arial"/>
              </a:defRPr>
            </a:pPr>
            <a:r>
              <a:rPr sz="2250" b="0">
                <a:solidFill>
                  <a:srgbClr val="182C49"/>
                </a:solidFill>
                <a:latin typeface="Arial"/>
                <a:ea typeface="Arial"/>
                <a:cs typeface="Arial"/>
              </a:rPr>
              <a:t>3. Choisir un exemple et comparer sa prédiction au label.</a:t>
            </a:r>
          </a:p>
        </p:txBody>
      </p:sp>
      <p:sp>
        <p:nvSpPr>
          <p:cNvPr id="6" name="">
            <a:extLst xmlns:a="http://schemas.openxmlformats.org/drawingml/2006/main">
              <a:ext uri="{FF2B5EF4-FFF2-40B4-BE49-F238E27FC236}">
                <a16:creationId xmlns:a16="http://schemas.microsoft.com/office/drawing/2014/main" id="{A3F98C9E-0E56-4189-9FA7-5123F8C4755A}"/>
              </a:ext>
            </a:extLst>
          </p:cNvPr>
          <p:cNvSpPr>
            <a:spLocks xmlns:a="http://schemas.openxmlformats.org/drawingml/2006/main" noGrp="1"/>
          </p:cNvSpPr>
          <p:nvPr/>
        </p:nvSpPr>
        <p:spPr>
          <a:xfrm xmlns:a="http://schemas.openxmlformats.org/drawingml/2006/main">
            <a:off x="781050" y="48577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82C49"/>
                </a:solidFill>
                <a:latin typeface="Arial"/>
                <a:ea typeface="Arial"/>
                <a:cs typeface="Arial"/>
              </a:defRPr>
            </a:defPPr>
            <a:lvl1pPr>
              <a:defRPr sz="2250" b="0">
                <a:solidFill>
                  <a:srgbClr val="182C49"/>
                </a:solidFill>
                <a:latin typeface="Arial"/>
                <a:ea typeface="Arial"/>
                <a:cs typeface="Arial"/>
              </a:defRPr>
            </a:lvl1pPr>
            <a:lvl2pPr>
              <a:defRPr sz="2250" b="0">
                <a:solidFill>
                  <a:srgbClr val="182C49"/>
                </a:solidFill>
                <a:latin typeface="Arial"/>
                <a:ea typeface="Arial"/>
                <a:cs typeface="Arial"/>
              </a:defRPr>
            </a:lvl2pPr>
            <a:lvl3pPr>
              <a:defRPr sz="2250" b="0">
                <a:solidFill>
                  <a:srgbClr val="182C49"/>
                </a:solidFill>
                <a:latin typeface="Arial"/>
                <a:ea typeface="Arial"/>
                <a:cs typeface="Arial"/>
              </a:defRPr>
            </a:lvl3pPr>
            <a:lvl4pPr>
              <a:defRPr sz="2250" b="0">
                <a:solidFill>
                  <a:srgbClr val="182C49"/>
                </a:solidFill>
                <a:latin typeface="Arial"/>
                <a:ea typeface="Arial"/>
                <a:cs typeface="Arial"/>
              </a:defRPr>
            </a:lvl4pPr>
            <a:lvl5pPr>
              <a:defRPr sz="2250" b="0">
                <a:solidFill>
                  <a:srgbClr val="182C49"/>
                </a:solidFill>
                <a:latin typeface="Arial"/>
                <a:ea typeface="Arial"/>
                <a:cs typeface="Arial"/>
              </a:defRPr>
            </a:lvl5pPr>
            <a:lvl6pPr>
              <a:defRPr sz="2250" b="0">
                <a:solidFill>
                  <a:srgbClr val="182C49"/>
                </a:solidFill>
                <a:latin typeface="Arial"/>
                <a:ea typeface="Arial"/>
                <a:cs typeface="Arial"/>
              </a:defRPr>
            </a:lvl6pPr>
            <a:lvl7pPr>
              <a:defRPr sz="2250" b="0">
                <a:solidFill>
                  <a:srgbClr val="182C49"/>
                </a:solidFill>
                <a:latin typeface="Arial"/>
                <a:ea typeface="Arial"/>
                <a:cs typeface="Arial"/>
              </a:defRPr>
            </a:lvl7pPr>
            <a:lvl8pPr>
              <a:defRPr sz="2250" b="0">
                <a:solidFill>
                  <a:srgbClr val="182C49"/>
                </a:solidFill>
                <a:latin typeface="Arial"/>
                <a:ea typeface="Arial"/>
                <a:cs typeface="Arial"/>
              </a:defRPr>
            </a:lvl8pPr>
            <a:lvl9pPr>
              <a:defRPr sz="2250" b="0">
                <a:solidFill>
                  <a:srgbClr val="182C49"/>
                </a:solidFill>
                <a:latin typeface="Arial"/>
                <a:ea typeface="Arial"/>
                <a:cs typeface="Arial"/>
              </a:defRPr>
            </a:lvl9pPr>
          </a:lstStyle>
          <a:p xmlns:a="http://schemas.openxmlformats.org/drawingml/2006/main">
            <a:pPr>
              <a:defRPr sz="2250" b="0">
                <a:solidFill>
                  <a:srgbClr val="182C49"/>
                </a:solidFill>
                <a:latin typeface="Arial"/>
                <a:ea typeface="Arial"/>
                <a:cs typeface="Arial"/>
              </a:defRPr>
            </a:pPr>
            <a:r>
              <a:rPr sz="2250" b="0">
                <a:solidFill>
                  <a:srgbClr val="182C49"/>
                </a:solidFill>
                <a:latin typeface="Arial"/>
                <a:ea typeface="Arial"/>
                <a:cs typeface="Arial"/>
              </a:rPr>
              <a:t>4. Comparer les scores et ouvrir les valeurs en tableau.</a:t>
            </a:r>
          </a:p>
        </p:txBody>
      </p:sp>
    </p:spTree>
    <p:extLst>
      <p:ext uri="{BB962C8B-B14F-4D97-AF65-F5344CB8AC3E}">
        <p14:creationId xmlns:p14="http://schemas.microsoft.com/office/powerpoint/2010/main" val="192800957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8044D9-B392-434E-B5B4-AC1669A54C3A}"/>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Conclusion et limites</a:t>
            </a:r>
          </a:p>
        </p:txBody>
      </p:sp>
      <p:sp>
        <p:nvSpPr>
          <p:cNvPr id="2" name="">
            <a:extLst xmlns:a="http://schemas.openxmlformats.org/drawingml/2006/main">
              <a:ext uri="{FF2B5EF4-FFF2-40B4-BE49-F238E27FC236}">
                <a16:creationId xmlns:a16="http://schemas.microsoft.com/office/drawing/2014/main" id="{AED73E38-ABA7-4D66-A3D1-2FFDD8452F17}"/>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BAF1A65F-13CE-4E73-8623-518BF319DF22}"/>
              </a:ext>
            </a:extLst>
          </p:cNvPr>
          <p:cNvSpPr>
            <a:spLocks xmlns:a="http://schemas.openxmlformats.org/drawingml/2006/main" noGrp="1"/>
          </p:cNvSpPr>
          <p:nvPr/>
        </p:nvSpPr>
        <p:spPr>
          <a:xfrm xmlns:a="http://schemas.openxmlformats.org/drawingml/2006/main">
            <a:off x="781050" y="17145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SetFit : F1 macro 0,8163, avec 1 024 exemples de train.</a:t>
            </a:r>
          </a:p>
        </p:txBody>
      </p:sp>
      <p:sp>
        <p:nvSpPr>
          <p:cNvPr id="4" name="">
            <a:extLst xmlns:a="http://schemas.openxmlformats.org/drawingml/2006/main">
              <a:ext uri="{FF2B5EF4-FFF2-40B4-BE49-F238E27FC236}">
                <a16:creationId xmlns:a16="http://schemas.microsoft.com/office/drawing/2014/main" id="{157258AB-9A2C-423A-9777-A743375E3632}"/>
              </a:ext>
            </a:extLst>
          </p:cNvPr>
          <p:cNvSpPr>
            <a:spLocks xmlns:a="http://schemas.openxmlformats.org/drawingml/2006/main" noGrp="1"/>
          </p:cNvSpPr>
          <p:nvPr/>
        </p:nvSpPr>
        <p:spPr>
          <a:xfrm xmlns:a="http://schemas.openxmlformats.org/drawingml/2006/main">
            <a:off x="781050" y="27622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Un intérêt lorsque les données labellisées sont limitées.</a:t>
            </a:r>
          </a:p>
        </p:txBody>
      </p:sp>
      <p:sp>
        <p:nvSpPr>
          <p:cNvPr id="5" name="">
            <a:extLst xmlns:a="http://schemas.openxmlformats.org/drawingml/2006/main">
              <a:ext uri="{FF2B5EF4-FFF2-40B4-BE49-F238E27FC236}">
                <a16:creationId xmlns:a16="http://schemas.microsoft.com/office/drawing/2014/main" id="{121C2D21-9AFB-4CD9-B753-BB11D944B37D}"/>
              </a:ext>
            </a:extLst>
          </p:cNvPr>
          <p:cNvSpPr>
            <a:spLocks xmlns:a="http://schemas.openxmlformats.org/drawingml/2006/main" noGrp="1"/>
          </p:cNvSpPr>
          <p:nvPr/>
        </p:nvSpPr>
        <p:spPr>
          <a:xfrm xmlns:a="http://schemas.openxmlformats.org/drawingml/2006/main">
            <a:off x="781050" y="38100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Gain de score faible et inférence plus lente dans ces mesures.</a:t>
            </a:r>
          </a:p>
        </p:txBody>
      </p:sp>
      <p:sp>
        <p:nvSpPr>
          <p:cNvPr id="6" name="">
            <a:extLst xmlns:a="http://schemas.openxmlformats.org/drawingml/2006/main">
              <a:ext uri="{FF2B5EF4-FFF2-40B4-BE49-F238E27FC236}">
                <a16:creationId xmlns:a16="http://schemas.microsoft.com/office/drawing/2014/main" id="{10BAA10E-2636-4B9D-BB12-2404A6652C35}"/>
              </a:ext>
            </a:extLst>
          </p:cNvPr>
          <p:cNvSpPr>
            <a:spLocks xmlns:a="http://schemas.openxmlformats.org/drawingml/2006/main" noGrp="1"/>
          </p:cNvSpPr>
          <p:nvPr/>
        </p:nvSpPr>
        <p:spPr>
          <a:xfrm xmlns:a="http://schemas.openxmlformats.org/drawingml/2006/main">
            <a:off x="781050" y="48577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C49"/>
                </a:solidFill>
                <a:latin typeface="Arial"/>
                <a:ea typeface="Arial"/>
                <a:cs typeface="Arial"/>
              </a:defRPr>
            </a:defPPr>
            <a:lvl1pPr>
              <a:defRPr sz="2175" b="0">
                <a:solidFill>
                  <a:srgbClr val="182C49"/>
                </a:solidFill>
                <a:latin typeface="Arial"/>
                <a:ea typeface="Arial"/>
                <a:cs typeface="Arial"/>
              </a:defRPr>
            </a:lvl1pPr>
            <a:lvl2pPr>
              <a:defRPr sz="2175" b="0">
                <a:solidFill>
                  <a:srgbClr val="182C49"/>
                </a:solidFill>
                <a:latin typeface="Arial"/>
                <a:ea typeface="Arial"/>
                <a:cs typeface="Arial"/>
              </a:defRPr>
            </a:lvl2pPr>
            <a:lvl3pPr>
              <a:defRPr sz="2175" b="0">
                <a:solidFill>
                  <a:srgbClr val="182C49"/>
                </a:solidFill>
                <a:latin typeface="Arial"/>
                <a:ea typeface="Arial"/>
                <a:cs typeface="Arial"/>
              </a:defRPr>
            </a:lvl3pPr>
            <a:lvl4pPr>
              <a:defRPr sz="2175" b="0">
                <a:solidFill>
                  <a:srgbClr val="182C49"/>
                </a:solidFill>
                <a:latin typeface="Arial"/>
                <a:ea typeface="Arial"/>
                <a:cs typeface="Arial"/>
              </a:defRPr>
            </a:lvl4pPr>
            <a:lvl5pPr>
              <a:defRPr sz="2175" b="0">
                <a:solidFill>
                  <a:srgbClr val="182C49"/>
                </a:solidFill>
                <a:latin typeface="Arial"/>
                <a:ea typeface="Arial"/>
                <a:cs typeface="Arial"/>
              </a:defRPr>
            </a:lvl5pPr>
            <a:lvl6pPr>
              <a:defRPr sz="2175" b="0">
                <a:solidFill>
                  <a:srgbClr val="182C49"/>
                </a:solidFill>
                <a:latin typeface="Arial"/>
                <a:ea typeface="Arial"/>
                <a:cs typeface="Arial"/>
              </a:defRPr>
            </a:lvl6pPr>
            <a:lvl7pPr>
              <a:defRPr sz="2175" b="0">
                <a:solidFill>
                  <a:srgbClr val="182C49"/>
                </a:solidFill>
                <a:latin typeface="Arial"/>
                <a:ea typeface="Arial"/>
                <a:cs typeface="Arial"/>
              </a:defRPr>
            </a:lvl7pPr>
            <a:lvl8pPr>
              <a:defRPr sz="2175" b="0">
                <a:solidFill>
                  <a:srgbClr val="182C49"/>
                </a:solidFill>
                <a:latin typeface="Arial"/>
                <a:ea typeface="Arial"/>
                <a:cs typeface="Arial"/>
              </a:defRPr>
            </a:lvl8pPr>
            <a:lvl9pPr>
              <a:defRPr sz="2175" b="0">
                <a:solidFill>
                  <a:srgbClr val="182C49"/>
                </a:solidFill>
                <a:latin typeface="Arial"/>
                <a:ea typeface="Arial"/>
                <a:cs typeface="Arial"/>
              </a:defRPr>
            </a:lvl9pPr>
          </a:lstStyle>
          <a:p xmlns:a="http://schemas.openxmlformats.org/drawingml/2006/main">
            <a:pPr>
              <a:defRPr sz="2175" b="0">
                <a:solidFill>
                  <a:srgbClr val="182C49"/>
                </a:solidFill>
                <a:latin typeface="Arial"/>
                <a:ea typeface="Arial"/>
                <a:cs typeface="Arial"/>
              </a:defRPr>
            </a:pPr>
            <a:r>
              <a:rPr sz="2175" b="0">
                <a:solidFill>
                  <a:srgbClr val="182C49"/>
                </a:solidFill>
                <a:latin typeface="Arial"/>
                <a:ea typeface="Arial"/>
                <a:cs typeface="Arial"/>
              </a:rPr>
              <a:t>À confirmer : budgets identiques, plusieurs graines et nouveau test.</a:t>
            </a:r>
          </a:p>
        </p:txBody>
      </p:sp>
    </p:spTree>
    <p:extLst>
      <p:ext uri="{BB962C8B-B14F-4D97-AF65-F5344CB8AC3E}">
        <p14:creationId xmlns:p14="http://schemas.microsoft.com/office/powerpoint/2010/main" val="142409512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96C0B9-63A0-406E-8684-1D9270F26BBD}"/>
              </a:ext>
            </a:extLst>
          </p:cNvPr>
          <p:cNvSpPr>
            <a:spLocks xmlns:a="http://schemas.openxmlformats.org/drawingml/2006/main" noGrp="1"/>
          </p:cNvSpPr>
          <p:nvPr/>
        </p:nvSpPr>
        <p:spPr>
          <a:xfrm xmlns:a="http://schemas.openxmlformats.org/drawingml/2006/main">
            <a:off x="685800" y="42862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2C49"/>
                </a:solidFill>
                <a:latin typeface="Arial"/>
                <a:ea typeface="Arial"/>
                <a:cs typeface="Arial"/>
              </a:defRPr>
            </a:defPPr>
            <a:lvl1pPr>
              <a:defRPr sz="3300" b="1">
                <a:solidFill>
                  <a:srgbClr val="182C49"/>
                </a:solidFill>
                <a:latin typeface="Arial"/>
                <a:ea typeface="Arial"/>
                <a:cs typeface="Arial"/>
              </a:defRPr>
            </a:lvl1pPr>
            <a:lvl2pPr>
              <a:defRPr sz="3300" b="1">
                <a:solidFill>
                  <a:srgbClr val="182C49"/>
                </a:solidFill>
                <a:latin typeface="Arial"/>
                <a:ea typeface="Arial"/>
                <a:cs typeface="Arial"/>
              </a:defRPr>
            </a:lvl2pPr>
            <a:lvl3pPr>
              <a:defRPr sz="3300" b="1">
                <a:solidFill>
                  <a:srgbClr val="182C49"/>
                </a:solidFill>
                <a:latin typeface="Arial"/>
                <a:ea typeface="Arial"/>
                <a:cs typeface="Arial"/>
              </a:defRPr>
            </a:lvl3pPr>
            <a:lvl4pPr>
              <a:defRPr sz="3300" b="1">
                <a:solidFill>
                  <a:srgbClr val="182C49"/>
                </a:solidFill>
                <a:latin typeface="Arial"/>
                <a:ea typeface="Arial"/>
                <a:cs typeface="Arial"/>
              </a:defRPr>
            </a:lvl4pPr>
            <a:lvl5pPr>
              <a:defRPr sz="3300" b="1">
                <a:solidFill>
                  <a:srgbClr val="182C49"/>
                </a:solidFill>
                <a:latin typeface="Arial"/>
                <a:ea typeface="Arial"/>
                <a:cs typeface="Arial"/>
              </a:defRPr>
            </a:lvl5pPr>
            <a:lvl6pPr>
              <a:defRPr sz="3300" b="1">
                <a:solidFill>
                  <a:srgbClr val="182C49"/>
                </a:solidFill>
                <a:latin typeface="Arial"/>
                <a:ea typeface="Arial"/>
                <a:cs typeface="Arial"/>
              </a:defRPr>
            </a:lvl6pPr>
            <a:lvl7pPr>
              <a:defRPr sz="3300" b="1">
                <a:solidFill>
                  <a:srgbClr val="182C49"/>
                </a:solidFill>
                <a:latin typeface="Arial"/>
                <a:ea typeface="Arial"/>
                <a:cs typeface="Arial"/>
              </a:defRPr>
            </a:lvl7pPr>
            <a:lvl8pPr>
              <a:defRPr sz="3300" b="1">
                <a:solidFill>
                  <a:srgbClr val="182C49"/>
                </a:solidFill>
                <a:latin typeface="Arial"/>
                <a:ea typeface="Arial"/>
                <a:cs typeface="Arial"/>
              </a:defRPr>
            </a:lvl8pPr>
            <a:lvl9pPr>
              <a:defRPr sz="3300" b="1">
                <a:solidFill>
                  <a:srgbClr val="182C49"/>
                </a:solidFill>
                <a:latin typeface="Arial"/>
                <a:ea typeface="Arial"/>
                <a:cs typeface="Arial"/>
              </a:defRPr>
            </a:lvl9pPr>
          </a:lstStyle>
          <a:p xmlns:a="http://schemas.openxmlformats.org/drawingml/2006/main">
            <a:pPr>
              <a:defRPr sz="3300" b="1">
                <a:solidFill>
                  <a:srgbClr val="182C49"/>
                </a:solidFill>
                <a:latin typeface="Arial"/>
                <a:ea typeface="Arial"/>
                <a:cs typeface="Arial"/>
              </a:defRPr>
            </a:pPr>
            <a:r>
              <a:rPr sz="3300" b="1">
                <a:solidFill>
                  <a:srgbClr val="182C49"/>
                </a:solidFill>
                <a:latin typeface="Arial"/>
                <a:ea typeface="Arial"/>
                <a:cs typeface="Arial"/>
              </a:rPr>
              <a:t>Sources</a:t>
            </a:r>
          </a:p>
        </p:txBody>
      </p:sp>
      <p:sp>
        <p:nvSpPr>
          <p:cNvPr id="2" name="">
            <a:extLst xmlns:a="http://schemas.openxmlformats.org/drawingml/2006/main">
              <a:ext uri="{FF2B5EF4-FFF2-40B4-BE49-F238E27FC236}">
                <a16:creationId xmlns:a16="http://schemas.microsoft.com/office/drawing/2014/main" id="{D2F48E22-9237-4EEC-8E49-9D0739B2CC00}"/>
              </a:ext>
            </a:extLst>
          </p:cNvPr>
          <p:cNvSpPr>
            <a:spLocks xmlns:a="http://schemas.openxmlformats.org/drawingml/2006/main" noGrp="1"/>
          </p:cNvSpPr>
          <p:nvPr/>
        </p:nvSpPr>
        <p:spPr>
          <a:xfrm xmlns:a="http://schemas.openxmlformats.org/drawingml/2006/main">
            <a:off x="1104900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77385"/>
                </a:solidFill>
                <a:latin typeface="Arial"/>
                <a:ea typeface="Arial"/>
                <a:cs typeface="Arial"/>
              </a:defRPr>
            </a:defPPr>
            <a:lvl1pPr>
              <a:defRPr sz="1350" b="0">
                <a:solidFill>
                  <a:srgbClr val="677385"/>
                </a:solidFill>
                <a:latin typeface="Arial"/>
                <a:ea typeface="Arial"/>
                <a:cs typeface="Arial"/>
              </a:defRPr>
            </a:lvl1pPr>
            <a:lvl2pPr>
              <a:defRPr sz="1350" b="0">
                <a:solidFill>
                  <a:srgbClr val="677385"/>
                </a:solidFill>
                <a:latin typeface="Arial"/>
                <a:ea typeface="Arial"/>
                <a:cs typeface="Arial"/>
              </a:defRPr>
            </a:lvl2pPr>
            <a:lvl3pPr>
              <a:defRPr sz="1350" b="0">
                <a:solidFill>
                  <a:srgbClr val="677385"/>
                </a:solidFill>
                <a:latin typeface="Arial"/>
                <a:ea typeface="Arial"/>
                <a:cs typeface="Arial"/>
              </a:defRPr>
            </a:lvl3pPr>
            <a:lvl4pPr>
              <a:defRPr sz="1350" b="0">
                <a:solidFill>
                  <a:srgbClr val="677385"/>
                </a:solidFill>
                <a:latin typeface="Arial"/>
                <a:ea typeface="Arial"/>
                <a:cs typeface="Arial"/>
              </a:defRPr>
            </a:lvl4pPr>
            <a:lvl5pPr>
              <a:defRPr sz="1350" b="0">
                <a:solidFill>
                  <a:srgbClr val="677385"/>
                </a:solidFill>
                <a:latin typeface="Arial"/>
                <a:ea typeface="Arial"/>
                <a:cs typeface="Arial"/>
              </a:defRPr>
            </a:lvl5pPr>
            <a:lvl6pPr>
              <a:defRPr sz="1350" b="0">
                <a:solidFill>
                  <a:srgbClr val="677385"/>
                </a:solidFill>
                <a:latin typeface="Arial"/>
                <a:ea typeface="Arial"/>
                <a:cs typeface="Arial"/>
              </a:defRPr>
            </a:lvl6pPr>
            <a:lvl7pPr>
              <a:defRPr sz="1350" b="0">
                <a:solidFill>
                  <a:srgbClr val="677385"/>
                </a:solidFill>
                <a:latin typeface="Arial"/>
                <a:ea typeface="Arial"/>
                <a:cs typeface="Arial"/>
              </a:defRPr>
            </a:lvl7pPr>
            <a:lvl8pPr>
              <a:defRPr sz="1350" b="0">
                <a:solidFill>
                  <a:srgbClr val="677385"/>
                </a:solidFill>
                <a:latin typeface="Arial"/>
                <a:ea typeface="Arial"/>
                <a:cs typeface="Arial"/>
              </a:defRPr>
            </a:lvl8pPr>
            <a:lvl9pPr>
              <a:defRPr sz="1350" b="0">
                <a:solidFill>
                  <a:srgbClr val="677385"/>
                </a:solidFill>
                <a:latin typeface="Arial"/>
                <a:ea typeface="Arial"/>
                <a:cs typeface="Arial"/>
              </a:defRPr>
            </a:lvl9pPr>
          </a:lstStyle>
          <a:p xmlns:a="http://schemas.openxmlformats.org/drawingml/2006/main">
            <a:pPr>
              <a:defRPr sz="1350" b="0">
                <a:solidFill>
                  <a:srgbClr val="677385"/>
                </a:solidFill>
                <a:latin typeface="Arial"/>
                <a:ea typeface="Arial"/>
                <a:cs typeface="Arial"/>
              </a:defRPr>
            </a:pPr>
            <a:r>
              <a:rPr sz="1350" b="0">
                <a:solidFill>
                  <a:srgbClr val="677385"/>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22171971-BDF1-4126-9BF5-A79A719E6533}"/>
              </a:ext>
            </a:extLst>
          </p:cNvPr>
          <p:cNvSpPr>
            <a:spLocks xmlns:a="http://schemas.openxmlformats.org/drawingml/2006/main" noGrp="1"/>
          </p:cNvSpPr>
          <p:nvPr/>
        </p:nvSpPr>
        <p:spPr>
          <a:xfrm xmlns:a="http://schemas.openxmlformats.org/drawingml/2006/main">
            <a:off x="781050" y="161925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C49"/>
                </a:solidFill>
                <a:latin typeface="Arial"/>
                <a:ea typeface="Arial"/>
                <a:cs typeface="Arial"/>
              </a:defRPr>
            </a:defPPr>
            <a:lvl1pPr>
              <a:defRPr sz="1800" b="0">
                <a:solidFill>
                  <a:srgbClr val="182C49"/>
                </a:solidFill>
                <a:latin typeface="Arial"/>
                <a:ea typeface="Arial"/>
                <a:cs typeface="Arial"/>
              </a:defRPr>
            </a:lvl1pPr>
            <a:lvl2pPr>
              <a:defRPr sz="1800" b="0">
                <a:solidFill>
                  <a:srgbClr val="182C49"/>
                </a:solidFill>
                <a:latin typeface="Arial"/>
                <a:ea typeface="Arial"/>
                <a:cs typeface="Arial"/>
              </a:defRPr>
            </a:lvl2pPr>
            <a:lvl3pPr>
              <a:defRPr sz="1800" b="0">
                <a:solidFill>
                  <a:srgbClr val="182C49"/>
                </a:solidFill>
                <a:latin typeface="Arial"/>
                <a:ea typeface="Arial"/>
                <a:cs typeface="Arial"/>
              </a:defRPr>
            </a:lvl3pPr>
            <a:lvl4pPr>
              <a:defRPr sz="1800" b="0">
                <a:solidFill>
                  <a:srgbClr val="182C49"/>
                </a:solidFill>
                <a:latin typeface="Arial"/>
                <a:ea typeface="Arial"/>
                <a:cs typeface="Arial"/>
              </a:defRPr>
            </a:lvl4pPr>
            <a:lvl5pPr>
              <a:defRPr sz="1800" b="0">
                <a:solidFill>
                  <a:srgbClr val="182C49"/>
                </a:solidFill>
                <a:latin typeface="Arial"/>
                <a:ea typeface="Arial"/>
                <a:cs typeface="Arial"/>
              </a:defRPr>
            </a:lvl5pPr>
            <a:lvl6pPr>
              <a:defRPr sz="1800" b="0">
                <a:solidFill>
                  <a:srgbClr val="182C49"/>
                </a:solidFill>
                <a:latin typeface="Arial"/>
                <a:ea typeface="Arial"/>
                <a:cs typeface="Arial"/>
              </a:defRPr>
            </a:lvl6pPr>
            <a:lvl7pPr>
              <a:defRPr sz="1800" b="0">
                <a:solidFill>
                  <a:srgbClr val="182C49"/>
                </a:solidFill>
                <a:latin typeface="Arial"/>
                <a:ea typeface="Arial"/>
                <a:cs typeface="Arial"/>
              </a:defRPr>
            </a:lvl7pPr>
            <a:lvl8pPr>
              <a:defRPr sz="1800" b="0">
                <a:solidFill>
                  <a:srgbClr val="182C49"/>
                </a:solidFill>
                <a:latin typeface="Arial"/>
                <a:ea typeface="Arial"/>
                <a:cs typeface="Arial"/>
              </a:defRPr>
            </a:lvl8pPr>
            <a:lvl9pPr>
              <a:defRPr sz="1800" b="0">
                <a:solidFill>
                  <a:srgbClr val="182C49"/>
                </a:solidFill>
                <a:latin typeface="Arial"/>
                <a:ea typeface="Arial"/>
                <a:cs typeface="Arial"/>
              </a:defRPr>
            </a:lvl9pPr>
          </a:lstStyle>
          <a:p xmlns:a="http://schemas.openxmlformats.org/drawingml/2006/main">
            <a:pPr>
              <a:defRPr sz="1800" b="0">
                <a:solidFill>
                  <a:srgbClr val="182C49"/>
                </a:solidFill>
                <a:latin typeface="Arial"/>
                <a:ea typeface="Arial"/>
                <a:cs typeface="Arial"/>
              </a:defRPr>
            </a:pPr>
            <a:r>
              <a:rPr sz="1800" b="0">
                <a:solidFill>
                  <a:srgbClr val="182C49"/>
                </a:solidFill>
                <a:latin typeface="Arial"/>
                <a:ea typeface="Arial"/>
                <a:cs typeface="Arial"/>
              </a:rPr>
              <a:t>Tunstall et al., 2022. Efficient Few-Shot Learning Without Prompts.</a:t>
            </a:r>
          </a:p>
          <a:p xmlns:a="http://schemas.openxmlformats.org/drawingml/2006/main">
            <a:pPr>
              <a:defRPr sz="1800" b="0">
                <a:solidFill>
                  <a:srgbClr val="182C49"/>
                </a:solidFill>
                <a:latin typeface="Arial"/>
                <a:ea typeface="Arial"/>
                <a:cs typeface="Arial"/>
              </a:defRPr>
            </a:pPr>
            <a:r>
              <a:rPr sz="1800" b="0">
                <a:solidFill>
                  <a:srgbClr val="182C49"/>
                </a:solidFill>
                <a:latin typeface="Arial"/>
                <a:ea typeface="Arial"/>
                <a:cs typeface="Arial"/>
              </a:rPr>
              <a:t>https://arxiv.org/abs/2209.11055</a:t>
            </a:r>
          </a:p>
        </p:txBody>
      </p:sp>
      <p:sp>
        <p:nvSpPr>
          <p:cNvPr id="4" name="">
            <a:extLst xmlns:a="http://schemas.openxmlformats.org/drawingml/2006/main">
              <a:ext uri="{FF2B5EF4-FFF2-40B4-BE49-F238E27FC236}">
                <a16:creationId xmlns:a16="http://schemas.microsoft.com/office/drawing/2014/main" id="{7747538B-BF03-44FA-BA85-56BA07901D1C}"/>
              </a:ext>
            </a:extLst>
          </p:cNvPr>
          <p:cNvSpPr>
            <a:spLocks xmlns:a="http://schemas.openxmlformats.org/drawingml/2006/main" noGrp="1"/>
          </p:cNvSpPr>
          <p:nvPr/>
        </p:nvSpPr>
        <p:spPr>
          <a:xfrm xmlns:a="http://schemas.openxmlformats.org/drawingml/2006/main">
            <a:off x="781050" y="276225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C49"/>
                </a:solidFill>
                <a:latin typeface="Arial"/>
                <a:ea typeface="Arial"/>
                <a:cs typeface="Arial"/>
              </a:defRPr>
            </a:defPPr>
            <a:lvl1pPr>
              <a:defRPr sz="1800" b="0">
                <a:solidFill>
                  <a:srgbClr val="182C49"/>
                </a:solidFill>
                <a:latin typeface="Arial"/>
                <a:ea typeface="Arial"/>
                <a:cs typeface="Arial"/>
              </a:defRPr>
            </a:lvl1pPr>
            <a:lvl2pPr>
              <a:defRPr sz="1800" b="0">
                <a:solidFill>
                  <a:srgbClr val="182C49"/>
                </a:solidFill>
                <a:latin typeface="Arial"/>
                <a:ea typeface="Arial"/>
                <a:cs typeface="Arial"/>
              </a:defRPr>
            </a:lvl2pPr>
            <a:lvl3pPr>
              <a:defRPr sz="1800" b="0">
                <a:solidFill>
                  <a:srgbClr val="182C49"/>
                </a:solidFill>
                <a:latin typeface="Arial"/>
                <a:ea typeface="Arial"/>
                <a:cs typeface="Arial"/>
              </a:defRPr>
            </a:lvl3pPr>
            <a:lvl4pPr>
              <a:defRPr sz="1800" b="0">
                <a:solidFill>
                  <a:srgbClr val="182C49"/>
                </a:solidFill>
                <a:latin typeface="Arial"/>
                <a:ea typeface="Arial"/>
                <a:cs typeface="Arial"/>
              </a:defRPr>
            </a:lvl4pPr>
            <a:lvl5pPr>
              <a:defRPr sz="1800" b="0">
                <a:solidFill>
                  <a:srgbClr val="182C49"/>
                </a:solidFill>
                <a:latin typeface="Arial"/>
                <a:ea typeface="Arial"/>
                <a:cs typeface="Arial"/>
              </a:defRPr>
            </a:lvl5pPr>
            <a:lvl6pPr>
              <a:defRPr sz="1800" b="0">
                <a:solidFill>
                  <a:srgbClr val="182C49"/>
                </a:solidFill>
                <a:latin typeface="Arial"/>
                <a:ea typeface="Arial"/>
                <a:cs typeface="Arial"/>
              </a:defRPr>
            </a:lvl6pPr>
            <a:lvl7pPr>
              <a:defRPr sz="1800" b="0">
                <a:solidFill>
                  <a:srgbClr val="182C49"/>
                </a:solidFill>
                <a:latin typeface="Arial"/>
                <a:ea typeface="Arial"/>
                <a:cs typeface="Arial"/>
              </a:defRPr>
            </a:lvl7pPr>
            <a:lvl8pPr>
              <a:defRPr sz="1800" b="0">
                <a:solidFill>
                  <a:srgbClr val="182C49"/>
                </a:solidFill>
                <a:latin typeface="Arial"/>
                <a:ea typeface="Arial"/>
                <a:cs typeface="Arial"/>
              </a:defRPr>
            </a:lvl8pPr>
            <a:lvl9pPr>
              <a:defRPr sz="1800" b="0">
                <a:solidFill>
                  <a:srgbClr val="182C49"/>
                </a:solidFill>
                <a:latin typeface="Arial"/>
                <a:ea typeface="Arial"/>
                <a:cs typeface="Arial"/>
              </a:defRPr>
            </a:lvl9pPr>
          </a:lstStyle>
          <a:p xmlns:a="http://schemas.openxmlformats.org/drawingml/2006/main">
            <a:pPr>
              <a:defRPr sz="1800" b="0">
                <a:solidFill>
                  <a:srgbClr val="182C49"/>
                </a:solidFill>
                <a:latin typeface="Arial"/>
                <a:ea typeface="Arial"/>
                <a:cs typeface="Arial"/>
              </a:defRPr>
            </a:pPr>
            <a:r>
              <a:rPr sz="1800" b="0">
                <a:solidFill>
                  <a:srgbClr val="182C49"/>
                </a:solidFill>
                <a:latin typeface="Arial"/>
                <a:ea typeface="Arial"/>
                <a:cs typeface="Arial"/>
              </a:rPr>
              <a:t>Jo et al., 2022. Blog SetFit, explication et exemple de code.</a:t>
            </a:r>
          </a:p>
          <a:p xmlns:a="http://schemas.openxmlformats.org/drawingml/2006/main">
            <a:pPr>
              <a:defRPr sz="1800" b="0">
                <a:solidFill>
                  <a:srgbClr val="182C49"/>
                </a:solidFill>
                <a:latin typeface="Arial"/>
                <a:ea typeface="Arial"/>
                <a:cs typeface="Arial"/>
              </a:defRPr>
            </a:pPr>
            <a:r>
              <a:rPr sz="1800" b="0">
                <a:solidFill>
                  <a:srgbClr val="182C49"/>
                </a:solidFill>
                <a:latin typeface="Arial"/>
                <a:ea typeface="Arial"/>
                <a:cs typeface="Arial"/>
              </a:rPr>
              <a:t>https://huggingface.co/blog/setfit</a:t>
            </a:r>
          </a:p>
        </p:txBody>
      </p:sp>
      <p:sp>
        <p:nvSpPr>
          <p:cNvPr id="5" name="">
            <a:extLst xmlns:a="http://schemas.openxmlformats.org/drawingml/2006/main">
              <a:ext uri="{FF2B5EF4-FFF2-40B4-BE49-F238E27FC236}">
                <a16:creationId xmlns:a16="http://schemas.microsoft.com/office/drawing/2014/main" id="{34C86F79-2638-4146-873E-A8B45E564DB1}"/>
              </a:ext>
            </a:extLst>
          </p:cNvPr>
          <p:cNvSpPr>
            <a:spLocks xmlns:a="http://schemas.openxmlformats.org/drawingml/2006/main" noGrp="1"/>
          </p:cNvSpPr>
          <p:nvPr/>
        </p:nvSpPr>
        <p:spPr>
          <a:xfrm xmlns:a="http://schemas.openxmlformats.org/drawingml/2006/main">
            <a:off x="781050" y="390525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C49"/>
                </a:solidFill>
                <a:latin typeface="Arial"/>
                <a:ea typeface="Arial"/>
                <a:cs typeface="Arial"/>
              </a:defRPr>
            </a:defPPr>
            <a:lvl1pPr>
              <a:defRPr sz="1800" b="0">
                <a:solidFill>
                  <a:srgbClr val="182C49"/>
                </a:solidFill>
                <a:latin typeface="Arial"/>
                <a:ea typeface="Arial"/>
                <a:cs typeface="Arial"/>
              </a:defRPr>
            </a:lvl1pPr>
            <a:lvl2pPr>
              <a:defRPr sz="1800" b="0">
                <a:solidFill>
                  <a:srgbClr val="182C49"/>
                </a:solidFill>
                <a:latin typeface="Arial"/>
                <a:ea typeface="Arial"/>
                <a:cs typeface="Arial"/>
              </a:defRPr>
            </a:lvl2pPr>
            <a:lvl3pPr>
              <a:defRPr sz="1800" b="0">
                <a:solidFill>
                  <a:srgbClr val="182C49"/>
                </a:solidFill>
                <a:latin typeface="Arial"/>
                <a:ea typeface="Arial"/>
                <a:cs typeface="Arial"/>
              </a:defRPr>
            </a:lvl3pPr>
            <a:lvl4pPr>
              <a:defRPr sz="1800" b="0">
                <a:solidFill>
                  <a:srgbClr val="182C49"/>
                </a:solidFill>
                <a:latin typeface="Arial"/>
                <a:ea typeface="Arial"/>
                <a:cs typeface="Arial"/>
              </a:defRPr>
            </a:lvl4pPr>
            <a:lvl5pPr>
              <a:defRPr sz="1800" b="0">
                <a:solidFill>
                  <a:srgbClr val="182C49"/>
                </a:solidFill>
                <a:latin typeface="Arial"/>
                <a:ea typeface="Arial"/>
                <a:cs typeface="Arial"/>
              </a:defRPr>
            </a:lvl5pPr>
            <a:lvl6pPr>
              <a:defRPr sz="1800" b="0">
                <a:solidFill>
                  <a:srgbClr val="182C49"/>
                </a:solidFill>
                <a:latin typeface="Arial"/>
                <a:ea typeface="Arial"/>
                <a:cs typeface="Arial"/>
              </a:defRPr>
            </a:lvl6pPr>
            <a:lvl7pPr>
              <a:defRPr sz="1800" b="0">
                <a:solidFill>
                  <a:srgbClr val="182C49"/>
                </a:solidFill>
                <a:latin typeface="Arial"/>
                <a:ea typeface="Arial"/>
                <a:cs typeface="Arial"/>
              </a:defRPr>
            </a:lvl7pPr>
            <a:lvl8pPr>
              <a:defRPr sz="1800" b="0">
                <a:solidFill>
                  <a:srgbClr val="182C49"/>
                </a:solidFill>
                <a:latin typeface="Arial"/>
                <a:ea typeface="Arial"/>
                <a:cs typeface="Arial"/>
              </a:defRPr>
            </a:lvl8pPr>
            <a:lvl9pPr>
              <a:defRPr sz="1800" b="0">
                <a:solidFill>
                  <a:srgbClr val="182C49"/>
                </a:solidFill>
                <a:latin typeface="Arial"/>
                <a:ea typeface="Arial"/>
                <a:cs typeface="Arial"/>
              </a:defRPr>
            </a:lvl9pPr>
          </a:lstStyle>
          <a:p xmlns:a="http://schemas.openxmlformats.org/drawingml/2006/main">
            <a:pPr>
              <a:defRPr sz="1800" b="0">
                <a:solidFill>
                  <a:srgbClr val="182C49"/>
                </a:solidFill>
                <a:latin typeface="Arial"/>
                <a:ea typeface="Arial"/>
                <a:cs typeface="Arial"/>
              </a:defRPr>
            </a:pPr>
            <a:r>
              <a:rPr sz="1800" b="0">
                <a:solidFill>
                  <a:srgbClr val="182C49"/>
                </a:solidFill>
                <a:latin typeface="Arial"/>
                <a:ea typeface="Arial"/>
                <a:cs typeface="Arial"/>
              </a:rPr>
              <a:t>Laperdon et al., 2023. Blog SetFitABSA, adaptation du concept.</a:t>
            </a:r>
          </a:p>
          <a:p xmlns:a="http://schemas.openxmlformats.org/drawingml/2006/main">
            <a:pPr>
              <a:defRPr sz="1800" b="0">
                <a:solidFill>
                  <a:srgbClr val="182C49"/>
                </a:solidFill>
                <a:latin typeface="Arial"/>
                <a:ea typeface="Arial"/>
                <a:cs typeface="Arial"/>
              </a:defRPr>
            </a:pPr>
            <a:r>
              <a:rPr sz="1800" b="0">
                <a:solidFill>
                  <a:srgbClr val="182C49"/>
                </a:solidFill>
                <a:latin typeface="Arial"/>
                <a:ea typeface="Arial"/>
                <a:cs typeface="Arial"/>
              </a:rPr>
              <a:t>https://huggingface.co/blog/setfit-absa</a:t>
            </a:r>
          </a:p>
        </p:txBody>
      </p:sp>
      <p:sp>
        <p:nvSpPr>
          <p:cNvPr id="6" name="">
            <a:extLst xmlns:a="http://schemas.openxmlformats.org/drawingml/2006/main">
              <a:ext uri="{FF2B5EF4-FFF2-40B4-BE49-F238E27FC236}">
                <a16:creationId xmlns:a16="http://schemas.microsoft.com/office/drawing/2014/main" id="{B60F65DF-19DA-4035-A944-D70599224590}"/>
              </a:ext>
            </a:extLst>
          </p:cNvPr>
          <p:cNvSpPr>
            <a:spLocks xmlns:a="http://schemas.openxmlformats.org/drawingml/2006/main" noGrp="1"/>
          </p:cNvSpPr>
          <p:nvPr/>
        </p:nvSpPr>
        <p:spPr>
          <a:xfrm xmlns:a="http://schemas.openxmlformats.org/drawingml/2006/main">
            <a:off x="781050" y="504825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C49"/>
                </a:solidFill>
                <a:latin typeface="Arial"/>
                <a:ea typeface="Arial"/>
                <a:cs typeface="Arial"/>
              </a:defRPr>
            </a:defPPr>
            <a:lvl1pPr>
              <a:defRPr sz="1800" b="0">
                <a:solidFill>
                  <a:srgbClr val="182C49"/>
                </a:solidFill>
                <a:latin typeface="Arial"/>
                <a:ea typeface="Arial"/>
                <a:cs typeface="Arial"/>
              </a:defRPr>
            </a:lvl1pPr>
            <a:lvl2pPr>
              <a:defRPr sz="1800" b="0">
                <a:solidFill>
                  <a:srgbClr val="182C49"/>
                </a:solidFill>
                <a:latin typeface="Arial"/>
                <a:ea typeface="Arial"/>
                <a:cs typeface="Arial"/>
              </a:defRPr>
            </a:lvl2pPr>
            <a:lvl3pPr>
              <a:defRPr sz="1800" b="0">
                <a:solidFill>
                  <a:srgbClr val="182C49"/>
                </a:solidFill>
                <a:latin typeface="Arial"/>
                <a:ea typeface="Arial"/>
                <a:cs typeface="Arial"/>
              </a:defRPr>
            </a:lvl3pPr>
            <a:lvl4pPr>
              <a:defRPr sz="1800" b="0">
                <a:solidFill>
                  <a:srgbClr val="182C49"/>
                </a:solidFill>
                <a:latin typeface="Arial"/>
                <a:ea typeface="Arial"/>
                <a:cs typeface="Arial"/>
              </a:defRPr>
            </a:lvl4pPr>
            <a:lvl5pPr>
              <a:defRPr sz="1800" b="0">
                <a:solidFill>
                  <a:srgbClr val="182C49"/>
                </a:solidFill>
                <a:latin typeface="Arial"/>
                <a:ea typeface="Arial"/>
                <a:cs typeface="Arial"/>
              </a:defRPr>
            </a:lvl5pPr>
            <a:lvl6pPr>
              <a:defRPr sz="1800" b="0">
                <a:solidFill>
                  <a:srgbClr val="182C49"/>
                </a:solidFill>
                <a:latin typeface="Arial"/>
                <a:ea typeface="Arial"/>
                <a:cs typeface="Arial"/>
              </a:defRPr>
            </a:lvl6pPr>
            <a:lvl7pPr>
              <a:defRPr sz="1800" b="0">
                <a:solidFill>
                  <a:srgbClr val="182C49"/>
                </a:solidFill>
                <a:latin typeface="Arial"/>
                <a:ea typeface="Arial"/>
                <a:cs typeface="Arial"/>
              </a:defRPr>
            </a:lvl7pPr>
            <a:lvl8pPr>
              <a:defRPr sz="1800" b="0">
                <a:solidFill>
                  <a:srgbClr val="182C49"/>
                </a:solidFill>
                <a:latin typeface="Arial"/>
                <a:ea typeface="Arial"/>
                <a:cs typeface="Arial"/>
              </a:defRPr>
            </a:lvl8pPr>
            <a:lvl9pPr>
              <a:defRPr sz="1800" b="0">
                <a:solidFill>
                  <a:srgbClr val="182C49"/>
                </a:solidFill>
                <a:latin typeface="Arial"/>
                <a:ea typeface="Arial"/>
                <a:cs typeface="Arial"/>
              </a:defRPr>
            </a:lvl9pPr>
          </a:lstStyle>
          <a:p xmlns:a="http://schemas.openxmlformats.org/drawingml/2006/main">
            <a:pPr>
              <a:defRPr sz="1800" b="0">
                <a:solidFill>
                  <a:srgbClr val="182C49"/>
                </a:solidFill>
                <a:latin typeface="Arial"/>
                <a:ea typeface="Arial"/>
                <a:cs typeface="Arial"/>
              </a:defRPr>
            </a:pPr>
            <a:r>
              <a:rPr sz="1800" b="0">
                <a:solidFill>
                  <a:srgbClr val="182C49"/>
                </a:solidFill>
                <a:latin typeface="Arial"/>
                <a:ea typeface="Arial"/>
                <a:cs typeface="Arial"/>
              </a:rPr>
              <a:t>Documentation officielle SetFit 1.1.3.</a:t>
            </a:r>
          </a:p>
          <a:p xmlns:a="http://schemas.openxmlformats.org/drawingml/2006/main">
            <a:pPr>
              <a:defRPr sz="1800" b="0">
                <a:solidFill>
                  <a:srgbClr val="182C49"/>
                </a:solidFill>
                <a:latin typeface="Arial"/>
                <a:ea typeface="Arial"/>
                <a:cs typeface="Arial"/>
              </a:defRPr>
            </a:pPr>
            <a:r>
              <a:rPr sz="1800" b="0">
                <a:solidFill>
                  <a:srgbClr val="182C49"/>
                </a:solidFill>
                <a:latin typeface="Arial"/>
                <a:ea typeface="Arial"/>
                <a:cs typeface="Arial"/>
              </a:rPr>
              <a:t>https://huggingface.co/docs/setfit/v1.1.3/en/quickstart</a:t>
            </a:r>
          </a:p>
        </p:txBody>
      </p:sp>
    </p:spTree>
    <p:extLst>
      <p:ext uri="{BB962C8B-B14F-4D97-AF65-F5344CB8AC3E}">
        <p14:creationId xmlns:p14="http://schemas.microsoft.com/office/powerpoint/2010/main" val="6339302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2026-10-22T09:26:43.4190000Z</dcterms:created>
  <dcterms:modified xsi:type="dcterms:W3CDTF">2026-10-22T09:26:43.4190000Z</dcterms:modified>
</coreProperties>
</file>